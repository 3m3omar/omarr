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0" r:id="rId2"/>
    <p:sldId id="256" r:id="rId3"/>
    <p:sldId id="257" r:id="rId4"/>
    <p:sldId id="258" r:id="rId5"/>
    <p:sldId id="259" r:id="rId6"/>
    <p:sldId id="262" r:id="rId7"/>
    <p:sldId id="265" r:id="rId8"/>
    <p:sldId id="271" r:id="rId9"/>
    <p:sldId id="272" r:id="rId10"/>
    <p:sldId id="273" r:id="rId11"/>
    <p:sldId id="276" r:id="rId12"/>
    <p:sldId id="275" r:id="rId13"/>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
      <p:font typeface="DM Sans" pitchFamily="2" charset="0"/>
      <p:regular r:id="rId16"/>
      <p:bold r:id="rId17"/>
      <p:italic r:id="rId18"/>
      <p:boldItalic r:id="rId19"/>
    </p:embeddedFont>
    <p:embeddedFont>
      <p:font typeface="Georgia Pro Light" panose="02040302050405020303" pitchFamily="18" charset="0"/>
      <p:regular r:id="rId20"/>
      <p:italic r:id="rId21"/>
    </p:embeddedFont>
    <p:embeddedFont>
      <p:font typeface="Muli Ultra-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gif"/><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1040" b="-1040"/>
              </a:stretch>
            </a:blipFill>
          </p:spPr>
          <p:txBody>
            <a:bodyPr/>
            <a:lstStyle/>
            <a:p>
              <a:endParaRPr lang="en-AE"/>
            </a:p>
          </p:txBody>
        </p:sp>
      </p:grpSp>
      <p:grpSp>
        <p:nvGrpSpPr>
          <p:cNvPr id="7" name="Group 7"/>
          <p:cNvGrpSpPr/>
          <p:nvPr/>
        </p:nvGrpSpPr>
        <p:grpSpPr>
          <a:xfrm>
            <a:off x="10734675" y="1562100"/>
            <a:ext cx="6886575" cy="4337753"/>
            <a:chOff x="0" y="0"/>
            <a:chExt cx="9182100" cy="5783670"/>
          </a:xfrm>
        </p:grpSpPr>
        <p:sp>
          <p:nvSpPr>
            <p:cNvPr id="8" name="TextBox 8"/>
            <p:cNvSpPr txBox="1"/>
            <p:nvPr/>
          </p:nvSpPr>
          <p:spPr>
            <a:xfrm>
              <a:off x="0" y="200025"/>
              <a:ext cx="9182100" cy="3686167"/>
            </a:xfrm>
            <a:prstGeom prst="rect">
              <a:avLst/>
            </a:prstGeom>
          </p:spPr>
          <p:txBody>
            <a:bodyPr lIns="0" tIns="0" rIns="0" bIns="0" rtlCol="0" anchor="t">
              <a:spAutoFit/>
            </a:bodyPr>
            <a:lstStyle/>
            <a:p>
              <a:pPr marL="0" lvl="0" indent="0" algn="l">
                <a:lnSpc>
                  <a:spcPts val="10499"/>
                </a:lnSpc>
              </a:pPr>
              <a:r>
                <a:rPr lang="en-US" sz="10499" dirty="0">
                  <a:solidFill>
                    <a:srgbClr val="1E293B"/>
                  </a:solidFill>
                  <a:latin typeface="Georgia Pro Light"/>
                  <a:ea typeface="Georgia Pro Light"/>
                  <a:cs typeface="Georgia Pro Light"/>
                  <a:sym typeface="Georgia Pro Light"/>
                </a:rPr>
                <a:t>Progress Report</a:t>
              </a:r>
            </a:p>
          </p:txBody>
        </p:sp>
        <p:sp>
          <p:nvSpPr>
            <p:cNvPr id="9" name="TextBox 9"/>
            <p:cNvSpPr txBox="1"/>
            <p:nvPr/>
          </p:nvSpPr>
          <p:spPr>
            <a:xfrm>
              <a:off x="0" y="4137115"/>
              <a:ext cx="9172670" cy="1646555"/>
            </a:xfrm>
            <a:prstGeom prst="rect">
              <a:avLst/>
            </a:prstGeom>
          </p:spPr>
          <p:txBody>
            <a:bodyPr lIns="0" tIns="0" rIns="0" bIns="0" rtlCol="0" anchor="t">
              <a:spAutoFit/>
            </a:bodyPr>
            <a:lstStyle/>
            <a:p>
              <a:pPr marL="0" lvl="0" indent="0" algn="l">
                <a:lnSpc>
                  <a:spcPts val="5039"/>
                </a:lnSpc>
              </a:pPr>
              <a:r>
                <a:rPr lang="en-US" sz="3599" dirty="0">
                  <a:solidFill>
                    <a:srgbClr val="1E293B"/>
                  </a:solidFill>
                  <a:latin typeface="DM Sans"/>
                  <a:ea typeface="DM Sans"/>
                  <a:cs typeface="DM Sans"/>
                  <a:sym typeface="DM Sans"/>
                </a:rPr>
                <a:t>Weekly Project Update Overview</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E7DE"/>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699204" cy="10287000"/>
            <a:chOff x="0" y="0"/>
            <a:chExt cx="3070990" cy="3257100"/>
          </a:xfrm>
        </p:grpSpPr>
        <p:sp>
          <p:nvSpPr>
            <p:cNvPr id="3" name="Freeform 3"/>
            <p:cNvSpPr/>
            <p:nvPr/>
          </p:nvSpPr>
          <p:spPr>
            <a:xfrm>
              <a:off x="0" y="0"/>
              <a:ext cx="3070990" cy="3257100"/>
            </a:xfrm>
            <a:custGeom>
              <a:avLst/>
              <a:gdLst/>
              <a:ahLst/>
              <a:cxnLst/>
              <a:rect l="l" t="t" r="r" b="b"/>
              <a:pathLst>
                <a:path w="3070990" h="3257100">
                  <a:moveTo>
                    <a:pt x="2946530" y="3257100"/>
                  </a:moveTo>
                  <a:lnTo>
                    <a:pt x="124460" y="3257100"/>
                  </a:lnTo>
                  <a:cubicBezTo>
                    <a:pt x="55880" y="3257100"/>
                    <a:pt x="0" y="3201220"/>
                    <a:pt x="0" y="3132640"/>
                  </a:cubicBezTo>
                  <a:lnTo>
                    <a:pt x="0" y="124460"/>
                  </a:lnTo>
                  <a:cubicBezTo>
                    <a:pt x="0" y="55880"/>
                    <a:pt x="55880" y="0"/>
                    <a:pt x="124460" y="0"/>
                  </a:cubicBezTo>
                  <a:lnTo>
                    <a:pt x="2946530" y="0"/>
                  </a:lnTo>
                  <a:cubicBezTo>
                    <a:pt x="3015110" y="0"/>
                    <a:pt x="3070990" y="55880"/>
                    <a:pt x="3070990" y="124460"/>
                  </a:cubicBezTo>
                  <a:lnTo>
                    <a:pt x="3070990" y="3132640"/>
                  </a:lnTo>
                  <a:cubicBezTo>
                    <a:pt x="3070990" y="3201220"/>
                    <a:pt x="3015110" y="3257100"/>
                    <a:pt x="2946530" y="3257100"/>
                  </a:cubicBezTo>
                  <a:close/>
                </a:path>
              </a:pathLst>
            </a:custGeom>
            <a:solidFill>
              <a:srgbClr val="FFFFFF"/>
            </a:solidFill>
          </p:spPr>
          <p:txBody>
            <a:bodyPr/>
            <a:lstStyle/>
            <a:p>
              <a:endParaRPr lang="en-AE"/>
            </a:p>
          </p:txBody>
        </p:sp>
      </p:grpSp>
      <p:sp>
        <p:nvSpPr>
          <p:cNvPr id="4" name="AutoShape 4"/>
          <p:cNvSpPr/>
          <p:nvPr/>
        </p:nvSpPr>
        <p:spPr>
          <a:xfrm rot="-5400000">
            <a:off x="7384058" y="5100638"/>
            <a:ext cx="8229600" cy="0"/>
          </a:xfrm>
          <a:prstGeom prst="line">
            <a:avLst/>
          </a:prstGeom>
          <a:ln w="85725" cap="rnd">
            <a:solidFill>
              <a:srgbClr val="D5D8DB"/>
            </a:solidFill>
            <a:prstDash val="solid"/>
            <a:headEnd type="none" w="sm" len="sm"/>
            <a:tailEnd type="none" w="sm" len="sm"/>
          </a:ln>
        </p:spPr>
        <p:txBody>
          <a:bodyPr/>
          <a:lstStyle/>
          <a:p>
            <a:endParaRPr lang="en-AE"/>
          </a:p>
        </p:txBody>
      </p:sp>
      <p:grpSp>
        <p:nvGrpSpPr>
          <p:cNvPr id="5" name="Group 5"/>
          <p:cNvGrpSpPr/>
          <p:nvPr/>
        </p:nvGrpSpPr>
        <p:grpSpPr>
          <a:xfrm>
            <a:off x="11330498" y="1838384"/>
            <a:ext cx="336720" cy="336720"/>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txBody>
            <a:bodyPr/>
            <a:lstStyle/>
            <a:p>
              <a:endParaRPr lang="en-AE"/>
            </a:p>
          </p:txBody>
        </p:sp>
      </p:grpSp>
      <p:grpSp>
        <p:nvGrpSpPr>
          <p:cNvPr id="7" name="Group 7"/>
          <p:cNvGrpSpPr/>
          <p:nvPr/>
        </p:nvGrpSpPr>
        <p:grpSpPr>
          <a:xfrm>
            <a:off x="12578936" y="1447114"/>
            <a:ext cx="4870863" cy="1452358"/>
            <a:chOff x="-1" y="-19049"/>
            <a:chExt cx="6494484" cy="1936478"/>
          </a:xfrm>
        </p:grpSpPr>
        <p:sp>
          <p:nvSpPr>
            <p:cNvPr id="8" name="TextBox 8"/>
            <p:cNvSpPr txBox="1"/>
            <p:nvPr/>
          </p:nvSpPr>
          <p:spPr>
            <a:xfrm>
              <a:off x="-1" y="-19049"/>
              <a:ext cx="5580081" cy="957699"/>
            </a:xfrm>
            <a:prstGeom prst="rect">
              <a:avLst/>
            </a:prstGeom>
          </p:spPr>
          <p:txBody>
            <a:bodyPr wrap="square" lIns="0" tIns="0" rIns="0" bIns="0" rtlCol="0" anchor="t">
              <a:spAutoFit/>
            </a:bodyPr>
            <a:lstStyle/>
            <a:p>
              <a:pPr lvl="0">
                <a:lnSpc>
                  <a:spcPts val="2860"/>
                </a:lnSpc>
              </a:pPr>
              <a:r>
                <a:rPr lang="en-US" sz="2400" b="1" dirty="0"/>
                <a:t>Weeks 1-3 Sensing Architecture</a:t>
              </a:r>
              <a:br>
                <a:rPr lang="en-US" sz="2400" b="1" dirty="0"/>
              </a:br>
              <a:r>
                <a:rPr lang="en-US" sz="2200" b="1" spc="-65" dirty="0">
                  <a:solidFill>
                    <a:srgbClr val="191919"/>
                  </a:solidFill>
                  <a:latin typeface="Muli Ultra-Bold"/>
                  <a:ea typeface="Muli Ultra-Bold"/>
                  <a:cs typeface="Muli Ultra-Bold"/>
                  <a:sym typeface="Muli Ultra-Bold"/>
                </a:rPr>
                <a:t> </a:t>
              </a:r>
            </a:p>
          </p:txBody>
        </p:sp>
        <p:sp>
          <p:nvSpPr>
            <p:cNvPr id="9" name="TextBox 9"/>
            <p:cNvSpPr txBox="1"/>
            <p:nvPr/>
          </p:nvSpPr>
          <p:spPr>
            <a:xfrm>
              <a:off x="-1" y="686322"/>
              <a:ext cx="6494484" cy="1231107"/>
            </a:xfrm>
            <a:prstGeom prst="rect">
              <a:avLst/>
            </a:prstGeom>
          </p:spPr>
          <p:txBody>
            <a:bodyPr wrap="square" lIns="0" tIns="0" rIns="0" bIns="0" rtlCol="0" anchor="t">
              <a:spAutoFit/>
            </a:bodyPr>
            <a:lstStyle/>
            <a:p>
              <a:pPr lvl="1"/>
              <a:r>
                <a:rPr lang="en-US" sz="2000" b="0" i="0" dirty="0">
                  <a:solidFill>
                    <a:srgbClr val="111111"/>
                  </a:solidFill>
                  <a:effectLst/>
                  <a:latin typeface="ui-sans-serif"/>
                </a:rPr>
                <a:t>Determine what sensing architecture to use as well as what vision and measurement to use on the robot.</a:t>
              </a:r>
              <a:endParaRPr lang="en-US" sz="2000" dirty="0"/>
            </a:p>
          </p:txBody>
        </p:sp>
      </p:grpSp>
      <p:grpSp>
        <p:nvGrpSpPr>
          <p:cNvPr id="10" name="Group 10"/>
          <p:cNvGrpSpPr/>
          <p:nvPr/>
        </p:nvGrpSpPr>
        <p:grpSpPr>
          <a:xfrm>
            <a:off x="11330498" y="3831129"/>
            <a:ext cx="336720" cy="33672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txBody>
            <a:bodyPr/>
            <a:lstStyle/>
            <a:p>
              <a:endParaRPr lang="en-AE"/>
            </a:p>
          </p:txBody>
        </p:sp>
      </p:grpSp>
      <p:grpSp>
        <p:nvGrpSpPr>
          <p:cNvPr id="12" name="Group 12"/>
          <p:cNvGrpSpPr/>
          <p:nvPr/>
        </p:nvGrpSpPr>
        <p:grpSpPr>
          <a:xfrm>
            <a:off x="12578936" y="3439860"/>
            <a:ext cx="5861461" cy="1144581"/>
            <a:chOff x="-1" y="-19050"/>
            <a:chExt cx="7815281" cy="1526109"/>
          </a:xfrm>
        </p:grpSpPr>
        <p:sp>
          <p:nvSpPr>
            <p:cNvPr id="13" name="TextBox 13"/>
            <p:cNvSpPr txBox="1"/>
            <p:nvPr/>
          </p:nvSpPr>
          <p:spPr>
            <a:xfrm>
              <a:off x="-1" y="-19050"/>
              <a:ext cx="7205678" cy="1453561"/>
            </a:xfrm>
            <a:prstGeom prst="rect">
              <a:avLst/>
            </a:prstGeom>
          </p:spPr>
          <p:txBody>
            <a:bodyPr wrap="square" lIns="0" tIns="0" rIns="0" bIns="0" rtlCol="0" anchor="t">
              <a:spAutoFit/>
            </a:bodyPr>
            <a:lstStyle/>
            <a:p>
              <a:pPr>
                <a:lnSpc>
                  <a:spcPts val="2860"/>
                </a:lnSpc>
              </a:pPr>
              <a:r>
                <a:rPr lang="en-US" sz="2400" b="1" dirty="0"/>
                <a:t>Weeks 4–6 Mechanical &amp; Actuation</a:t>
              </a:r>
            </a:p>
            <a:p>
              <a:pPr lvl="0">
                <a:lnSpc>
                  <a:spcPts val="2860"/>
                </a:lnSpc>
              </a:pPr>
              <a:br>
                <a:rPr lang="en-US" sz="2400" b="1" dirty="0"/>
              </a:br>
              <a:endParaRPr lang="en-US" sz="2200" b="1" spc="-65" dirty="0">
                <a:solidFill>
                  <a:srgbClr val="191919"/>
                </a:solidFill>
                <a:latin typeface="Muli Ultra-Bold"/>
                <a:ea typeface="Muli Ultra-Bold"/>
                <a:cs typeface="Muli Ultra-Bold"/>
                <a:sym typeface="Muli Ultra-Bold"/>
              </a:endParaRPr>
            </a:p>
          </p:txBody>
        </p:sp>
        <p:sp>
          <p:nvSpPr>
            <p:cNvPr id="14" name="TextBox 14"/>
            <p:cNvSpPr txBox="1"/>
            <p:nvPr/>
          </p:nvSpPr>
          <p:spPr>
            <a:xfrm>
              <a:off x="-1" y="686321"/>
              <a:ext cx="7815281" cy="820738"/>
            </a:xfrm>
            <a:prstGeom prst="rect">
              <a:avLst/>
            </a:prstGeom>
          </p:spPr>
          <p:txBody>
            <a:bodyPr wrap="square" lIns="0" tIns="0" rIns="0" bIns="0" rtlCol="0" anchor="t">
              <a:spAutoFit/>
            </a:bodyPr>
            <a:lstStyle/>
            <a:p>
              <a:r>
                <a:rPr lang="en-US" sz="2000" b="0" i="0" dirty="0">
                  <a:solidFill>
                    <a:srgbClr val="111111"/>
                  </a:solidFill>
                  <a:effectLst/>
                  <a:latin typeface="ui-sans-serif"/>
                </a:rPr>
                <a:t>Structural design of the 4-DOF robotic arm, choice of actuators, and the pneumatic gripper.</a:t>
              </a:r>
              <a:endParaRPr lang="en-US" sz="2000" dirty="0"/>
            </a:p>
          </p:txBody>
        </p:sp>
      </p:grpSp>
      <p:grpSp>
        <p:nvGrpSpPr>
          <p:cNvPr id="15" name="Group 15"/>
          <p:cNvGrpSpPr/>
          <p:nvPr/>
        </p:nvGrpSpPr>
        <p:grpSpPr>
          <a:xfrm>
            <a:off x="11330498" y="5823875"/>
            <a:ext cx="336720" cy="336720"/>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txBody>
            <a:bodyPr/>
            <a:lstStyle/>
            <a:p>
              <a:endParaRPr lang="en-AE"/>
            </a:p>
          </p:txBody>
        </p:sp>
      </p:grpSp>
      <p:grpSp>
        <p:nvGrpSpPr>
          <p:cNvPr id="17" name="Group 17"/>
          <p:cNvGrpSpPr/>
          <p:nvPr/>
        </p:nvGrpSpPr>
        <p:grpSpPr>
          <a:xfrm>
            <a:off x="12578936" y="5432606"/>
            <a:ext cx="5709064" cy="1144581"/>
            <a:chOff x="-1" y="-19049"/>
            <a:chExt cx="7612085" cy="1526109"/>
          </a:xfrm>
        </p:grpSpPr>
        <p:sp>
          <p:nvSpPr>
            <p:cNvPr id="18" name="TextBox 18"/>
            <p:cNvSpPr txBox="1"/>
            <p:nvPr/>
          </p:nvSpPr>
          <p:spPr>
            <a:xfrm>
              <a:off x="-1" y="-19049"/>
              <a:ext cx="7205676" cy="461836"/>
            </a:xfrm>
            <a:prstGeom prst="rect">
              <a:avLst/>
            </a:prstGeom>
          </p:spPr>
          <p:txBody>
            <a:bodyPr wrap="square" lIns="0" tIns="0" rIns="0" bIns="0" rtlCol="0" anchor="t">
              <a:spAutoFit/>
            </a:bodyPr>
            <a:lstStyle/>
            <a:p>
              <a:pPr lvl="0">
                <a:lnSpc>
                  <a:spcPts val="2860"/>
                </a:lnSpc>
              </a:pPr>
              <a:r>
                <a:rPr lang="en-US" sz="2200" b="1" spc="-65" dirty="0">
                  <a:solidFill>
                    <a:srgbClr val="191919"/>
                  </a:solidFill>
                  <a:latin typeface="Muli Ultra-Bold"/>
                  <a:ea typeface="Muli Ultra-Bold"/>
                  <a:cs typeface="Muli Ultra-Bold"/>
                  <a:sym typeface="Muli Ultra-Bold"/>
                </a:rPr>
                <a:t>Weeks 7-9 Control &amp; Programming</a:t>
              </a:r>
            </a:p>
          </p:txBody>
        </p:sp>
        <p:sp>
          <p:nvSpPr>
            <p:cNvPr id="19" name="TextBox 19"/>
            <p:cNvSpPr txBox="1"/>
            <p:nvPr/>
          </p:nvSpPr>
          <p:spPr>
            <a:xfrm>
              <a:off x="-1" y="686322"/>
              <a:ext cx="7612085" cy="820738"/>
            </a:xfrm>
            <a:prstGeom prst="rect">
              <a:avLst/>
            </a:prstGeom>
          </p:spPr>
          <p:txBody>
            <a:bodyPr wrap="square" lIns="0" tIns="0" rIns="0" bIns="0" rtlCol="0" anchor="t">
              <a:spAutoFit/>
            </a:bodyPr>
            <a:lstStyle/>
            <a:p>
              <a:r>
                <a:rPr lang="en-US" sz="2000" b="0" i="0" dirty="0">
                  <a:solidFill>
                    <a:srgbClr val="111111"/>
                  </a:solidFill>
                  <a:effectLst/>
                  <a:latin typeface="ui-sans-serif"/>
                </a:rPr>
                <a:t>Build the control system with ROS2, STM32  motor controller and motion planning.</a:t>
              </a:r>
              <a:endParaRPr lang="en-US" sz="2000" dirty="0"/>
            </a:p>
          </p:txBody>
        </p:sp>
      </p:grpSp>
      <p:grpSp>
        <p:nvGrpSpPr>
          <p:cNvPr id="20" name="Group 20"/>
          <p:cNvGrpSpPr/>
          <p:nvPr/>
        </p:nvGrpSpPr>
        <p:grpSpPr>
          <a:xfrm>
            <a:off x="11330498" y="7816621"/>
            <a:ext cx="336720" cy="336720"/>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p:spPr>
          <p:txBody>
            <a:bodyPr/>
            <a:lstStyle/>
            <a:p>
              <a:endParaRPr lang="en-AE"/>
            </a:p>
          </p:txBody>
        </p:sp>
      </p:grpSp>
      <p:grpSp>
        <p:nvGrpSpPr>
          <p:cNvPr id="22" name="Group 22"/>
          <p:cNvGrpSpPr/>
          <p:nvPr/>
        </p:nvGrpSpPr>
        <p:grpSpPr>
          <a:xfrm>
            <a:off x="12578936" y="7425350"/>
            <a:ext cx="5709063" cy="1144582"/>
            <a:chOff x="-1" y="-19051"/>
            <a:chExt cx="7612084" cy="1526109"/>
          </a:xfrm>
        </p:grpSpPr>
        <p:sp>
          <p:nvSpPr>
            <p:cNvPr id="23" name="TextBox 23"/>
            <p:cNvSpPr txBox="1"/>
            <p:nvPr/>
          </p:nvSpPr>
          <p:spPr>
            <a:xfrm>
              <a:off x="0" y="-19051"/>
              <a:ext cx="7205675" cy="461836"/>
            </a:xfrm>
            <a:prstGeom prst="rect">
              <a:avLst/>
            </a:prstGeom>
          </p:spPr>
          <p:txBody>
            <a:bodyPr wrap="square" lIns="0" tIns="0" rIns="0" bIns="0" rtlCol="0" anchor="t">
              <a:spAutoFit/>
            </a:bodyPr>
            <a:lstStyle/>
            <a:p>
              <a:pPr lvl="0">
                <a:lnSpc>
                  <a:spcPts val="2860"/>
                </a:lnSpc>
              </a:pPr>
              <a:r>
                <a:rPr lang="en-US" sz="2200" b="1" spc="-65" dirty="0">
                  <a:solidFill>
                    <a:srgbClr val="191919"/>
                  </a:solidFill>
                  <a:latin typeface="Muli Ultra-Bold"/>
                  <a:ea typeface="Muli Ultra-Bold"/>
                  <a:cs typeface="Muli Ultra-Bold"/>
                  <a:sym typeface="Muli Ultra-Bold"/>
                </a:rPr>
                <a:t>Weeks 10–12 Integrate all subsystems</a:t>
              </a:r>
            </a:p>
          </p:txBody>
        </p:sp>
        <p:sp>
          <p:nvSpPr>
            <p:cNvPr id="24" name="TextBox 24"/>
            <p:cNvSpPr txBox="1"/>
            <p:nvPr/>
          </p:nvSpPr>
          <p:spPr>
            <a:xfrm>
              <a:off x="-1" y="686321"/>
              <a:ext cx="7612084" cy="820737"/>
            </a:xfrm>
            <a:prstGeom prst="rect">
              <a:avLst/>
            </a:prstGeom>
          </p:spPr>
          <p:txBody>
            <a:bodyPr wrap="square" lIns="0" tIns="0" rIns="0" bIns="0" rtlCol="0" anchor="t">
              <a:spAutoFit/>
            </a:bodyPr>
            <a:lstStyle/>
            <a:p>
              <a:r>
                <a:rPr lang="en-US" sz="2000" b="0" i="0" dirty="0">
                  <a:solidFill>
                    <a:srgbClr val="111111"/>
                  </a:solidFill>
                  <a:effectLst/>
                  <a:latin typeface="ui-sans-serif"/>
                </a:rPr>
                <a:t>Connect all subsystems and test the system on the smart pick-and-place operation.</a:t>
              </a:r>
              <a:endParaRPr lang="en-US" sz="2000" dirty="0"/>
            </a:p>
          </p:txBody>
        </p:sp>
      </p:grpSp>
      <p:sp>
        <p:nvSpPr>
          <p:cNvPr id="25" name="TextBox 25"/>
          <p:cNvSpPr txBox="1"/>
          <p:nvPr/>
        </p:nvSpPr>
        <p:spPr>
          <a:xfrm>
            <a:off x="1489571" y="3253978"/>
            <a:ext cx="6477000" cy="3693319"/>
          </a:xfrm>
          <a:prstGeom prst="rect">
            <a:avLst/>
          </a:prstGeom>
        </p:spPr>
        <p:txBody>
          <a:bodyPr wrap="square" lIns="0" tIns="0" rIns="0" bIns="0" rtlCol="0" anchor="t">
            <a:spAutoFit/>
          </a:bodyPr>
          <a:lstStyle/>
          <a:p>
            <a:pPr marL="0" lvl="0" indent="0" algn="l">
              <a:lnSpc>
                <a:spcPts val="9600"/>
              </a:lnSpc>
            </a:pPr>
            <a:r>
              <a:rPr lang="en-US" sz="8000" b="1" spc="-160" dirty="0">
                <a:solidFill>
                  <a:srgbClr val="191919"/>
                </a:solidFill>
                <a:latin typeface="Muli Ultra-Bold"/>
                <a:ea typeface="Muli Ultra-Bold"/>
                <a:cs typeface="Muli Ultra-Bold"/>
                <a:sym typeface="Muli Ultra-Bold"/>
              </a:rPr>
              <a:t>Project Development Timeline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913780" y="2256835"/>
            <a:ext cx="3345520" cy="829265"/>
            <a:chOff x="0" y="0"/>
            <a:chExt cx="4460694" cy="1105687"/>
          </a:xfrm>
        </p:grpSpPr>
        <p:grpSp>
          <p:nvGrpSpPr>
            <p:cNvPr id="3" name="Group 3"/>
            <p:cNvGrpSpPr/>
            <p:nvPr/>
          </p:nvGrpSpPr>
          <p:grpSpPr>
            <a:xfrm>
              <a:off x="0" y="0"/>
              <a:ext cx="4460694" cy="1105687"/>
              <a:chOff x="0" y="0"/>
              <a:chExt cx="1639547" cy="406400"/>
            </a:xfrm>
          </p:grpSpPr>
          <p:sp>
            <p:nvSpPr>
              <p:cNvPr id="4" name="Freeform 4"/>
              <p:cNvSpPr/>
              <p:nvPr/>
            </p:nvSpPr>
            <p:spPr>
              <a:xfrm>
                <a:off x="17780" y="22860"/>
                <a:ext cx="1614148" cy="360680"/>
              </a:xfrm>
              <a:custGeom>
                <a:avLst/>
                <a:gdLst/>
                <a:ahLst/>
                <a:cxnLst/>
                <a:rect l="l" t="t" r="r" b="b"/>
                <a:pathLst>
                  <a:path w="1614148" h="360680">
                    <a:moveTo>
                      <a:pt x="1614148" y="180340"/>
                    </a:moveTo>
                    <a:cubicBezTo>
                      <a:pt x="1614148" y="81280"/>
                      <a:pt x="1534138" y="0"/>
                      <a:pt x="1433807" y="0"/>
                    </a:cubicBezTo>
                    <a:lnTo>
                      <a:pt x="172720" y="0"/>
                    </a:lnTo>
                    <a:lnTo>
                      <a:pt x="172720" y="1270"/>
                    </a:lnTo>
                    <a:cubicBezTo>
                      <a:pt x="76200" y="5080"/>
                      <a:pt x="0" y="83820"/>
                      <a:pt x="0" y="180340"/>
                    </a:cubicBezTo>
                    <a:cubicBezTo>
                      <a:pt x="0" y="276860"/>
                      <a:pt x="77470" y="355600"/>
                      <a:pt x="172720" y="359410"/>
                    </a:cubicBezTo>
                    <a:lnTo>
                      <a:pt x="172720" y="360680"/>
                    </a:lnTo>
                    <a:lnTo>
                      <a:pt x="1433807" y="360680"/>
                    </a:lnTo>
                    <a:cubicBezTo>
                      <a:pt x="1532867" y="360680"/>
                      <a:pt x="1614148" y="279400"/>
                      <a:pt x="1614148" y="180340"/>
                    </a:cubicBezTo>
                    <a:close/>
                  </a:path>
                </a:pathLst>
              </a:custGeom>
              <a:solidFill>
                <a:srgbClr val="2F945C"/>
              </a:solidFill>
            </p:spPr>
            <p:txBody>
              <a:bodyPr/>
              <a:lstStyle/>
              <a:p>
                <a:endParaRPr lang="en-AE"/>
              </a:p>
            </p:txBody>
          </p:sp>
        </p:grpSp>
        <p:pic>
          <p:nvPicPr>
            <p:cNvPr id="5" name="Picture 5"/>
            <p:cNvPicPr>
              <a:picLocks noChangeAspect="1"/>
            </p:cNvPicPr>
            <p:nvPr/>
          </p:nvPicPr>
          <p:blipFill>
            <a:blip r:embed="rId2"/>
            <a:srcRect/>
            <a:stretch>
              <a:fillRect/>
            </a:stretch>
          </p:blipFill>
          <p:spPr>
            <a:xfrm>
              <a:off x="532412" y="286143"/>
              <a:ext cx="533400" cy="533400"/>
            </a:xfrm>
            <a:prstGeom prst="rect">
              <a:avLst/>
            </a:prstGeom>
          </p:spPr>
        </p:pic>
        <p:sp>
          <p:nvSpPr>
            <p:cNvPr id="6" name="TextBox 6"/>
            <p:cNvSpPr txBox="1"/>
            <p:nvPr/>
          </p:nvSpPr>
          <p:spPr>
            <a:xfrm>
              <a:off x="1292609" y="262860"/>
              <a:ext cx="2652607" cy="541867"/>
            </a:xfrm>
            <a:prstGeom prst="rect">
              <a:avLst/>
            </a:prstGeom>
          </p:spPr>
          <p:txBody>
            <a:bodyPr lIns="0" tIns="0" rIns="0" bIns="0" rtlCol="0" anchor="t">
              <a:spAutoFit/>
            </a:bodyPr>
            <a:lstStyle/>
            <a:p>
              <a:pPr marL="0" lvl="0" indent="0" algn="l">
                <a:lnSpc>
                  <a:spcPts val="3250"/>
                </a:lnSpc>
              </a:pPr>
              <a:r>
                <a:rPr lang="en-US" sz="2500" b="1" spc="-75">
                  <a:solidFill>
                    <a:srgbClr val="FFFFFF"/>
                  </a:solidFill>
                  <a:latin typeface="Arimo Bold"/>
                  <a:ea typeface="Arimo Bold"/>
                  <a:cs typeface="Arimo Bold"/>
                  <a:sym typeface="Arimo Bold"/>
                </a:rPr>
                <a:t>ONGOING</a:t>
              </a:r>
            </a:p>
          </p:txBody>
        </p:sp>
      </p:grpSp>
      <p:grpSp>
        <p:nvGrpSpPr>
          <p:cNvPr id="7" name="Group 7"/>
          <p:cNvGrpSpPr/>
          <p:nvPr/>
        </p:nvGrpSpPr>
        <p:grpSpPr>
          <a:xfrm>
            <a:off x="13913780" y="1247185"/>
            <a:ext cx="3345520" cy="829265"/>
            <a:chOff x="0" y="0"/>
            <a:chExt cx="4460694" cy="1105687"/>
          </a:xfrm>
        </p:grpSpPr>
        <p:grpSp>
          <p:nvGrpSpPr>
            <p:cNvPr id="8" name="Group 8"/>
            <p:cNvGrpSpPr/>
            <p:nvPr/>
          </p:nvGrpSpPr>
          <p:grpSpPr>
            <a:xfrm>
              <a:off x="0" y="0"/>
              <a:ext cx="4460694" cy="1105687"/>
              <a:chOff x="0" y="0"/>
              <a:chExt cx="1639547" cy="406400"/>
            </a:xfrm>
          </p:grpSpPr>
          <p:sp>
            <p:nvSpPr>
              <p:cNvPr id="9" name="Freeform 9"/>
              <p:cNvSpPr/>
              <p:nvPr/>
            </p:nvSpPr>
            <p:spPr>
              <a:xfrm>
                <a:off x="17780" y="22860"/>
                <a:ext cx="1614148" cy="360680"/>
              </a:xfrm>
              <a:custGeom>
                <a:avLst/>
                <a:gdLst/>
                <a:ahLst/>
                <a:cxnLst/>
                <a:rect l="l" t="t" r="r" b="b"/>
                <a:pathLst>
                  <a:path w="1614148" h="360680">
                    <a:moveTo>
                      <a:pt x="1614148" y="180340"/>
                    </a:moveTo>
                    <a:cubicBezTo>
                      <a:pt x="1614148" y="81280"/>
                      <a:pt x="1534138" y="0"/>
                      <a:pt x="1433807" y="0"/>
                    </a:cubicBezTo>
                    <a:lnTo>
                      <a:pt x="172720" y="0"/>
                    </a:lnTo>
                    <a:lnTo>
                      <a:pt x="172720" y="1270"/>
                    </a:lnTo>
                    <a:cubicBezTo>
                      <a:pt x="76200" y="5080"/>
                      <a:pt x="0" y="83820"/>
                      <a:pt x="0" y="180340"/>
                    </a:cubicBezTo>
                    <a:cubicBezTo>
                      <a:pt x="0" y="276860"/>
                      <a:pt x="77470" y="355600"/>
                      <a:pt x="172720" y="359410"/>
                    </a:cubicBezTo>
                    <a:lnTo>
                      <a:pt x="172720" y="360680"/>
                    </a:lnTo>
                    <a:lnTo>
                      <a:pt x="1433807" y="360680"/>
                    </a:lnTo>
                    <a:cubicBezTo>
                      <a:pt x="1532867" y="360680"/>
                      <a:pt x="1614148" y="279400"/>
                      <a:pt x="1614148" y="180340"/>
                    </a:cubicBezTo>
                    <a:close/>
                  </a:path>
                </a:pathLst>
              </a:custGeom>
              <a:solidFill>
                <a:srgbClr val="2F945C"/>
              </a:solidFill>
            </p:spPr>
            <p:txBody>
              <a:bodyPr/>
              <a:lstStyle/>
              <a:p>
                <a:endParaRPr lang="en-AE"/>
              </a:p>
            </p:txBody>
          </p:sp>
        </p:grpSp>
        <p:grpSp>
          <p:nvGrpSpPr>
            <p:cNvPr id="10" name="Group 10"/>
            <p:cNvGrpSpPr>
              <a:grpSpLocks noChangeAspect="1"/>
            </p:cNvGrpSpPr>
            <p:nvPr/>
          </p:nvGrpSpPr>
          <p:grpSpPr>
            <a:xfrm>
              <a:off x="515478" y="277677"/>
              <a:ext cx="550333" cy="550333"/>
              <a:chOff x="0" y="0"/>
              <a:chExt cx="6355080" cy="6355080"/>
            </a:xfrm>
          </p:grpSpPr>
          <p:sp>
            <p:nvSpPr>
              <p:cNvPr id="11" name="Freeform 11"/>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AE"/>
              </a:p>
            </p:txBody>
          </p:sp>
        </p:grpSp>
        <p:sp>
          <p:nvSpPr>
            <p:cNvPr id="12" name="Freeform 12"/>
            <p:cNvSpPr/>
            <p:nvPr/>
          </p:nvSpPr>
          <p:spPr>
            <a:xfrm>
              <a:off x="609193" y="412960"/>
              <a:ext cx="362904" cy="279766"/>
            </a:xfrm>
            <a:custGeom>
              <a:avLst/>
              <a:gdLst/>
              <a:ahLst/>
              <a:cxnLst/>
              <a:rect l="l" t="t" r="r" b="b"/>
              <a:pathLst>
                <a:path w="362904" h="279766">
                  <a:moveTo>
                    <a:pt x="0" y="0"/>
                  </a:moveTo>
                  <a:lnTo>
                    <a:pt x="362904" y="0"/>
                  </a:lnTo>
                  <a:lnTo>
                    <a:pt x="362904" y="279767"/>
                  </a:lnTo>
                  <a:lnTo>
                    <a:pt x="0" y="2797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E"/>
            </a:p>
          </p:txBody>
        </p:sp>
        <p:sp>
          <p:nvSpPr>
            <p:cNvPr id="13" name="TextBox 13"/>
            <p:cNvSpPr txBox="1"/>
            <p:nvPr/>
          </p:nvSpPr>
          <p:spPr>
            <a:xfrm>
              <a:off x="1292609" y="262860"/>
              <a:ext cx="2652607" cy="541867"/>
            </a:xfrm>
            <a:prstGeom prst="rect">
              <a:avLst/>
            </a:prstGeom>
          </p:spPr>
          <p:txBody>
            <a:bodyPr lIns="0" tIns="0" rIns="0" bIns="0" rtlCol="0" anchor="t">
              <a:spAutoFit/>
            </a:bodyPr>
            <a:lstStyle/>
            <a:p>
              <a:pPr marL="0" lvl="0" indent="0" algn="l">
                <a:lnSpc>
                  <a:spcPts val="3250"/>
                </a:lnSpc>
              </a:pPr>
              <a:r>
                <a:rPr lang="en-US" sz="2500" b="1" spc="-75">
                  <a:solidFill>
                    <a:srgbClr val="FFFFFF"/>
                  </a:solidFill>
                  <a:latin typeface="Arimo Bold"/>
                  <a:ea typeface="Arimo Bold"/>
                  <a:cs typeface="Arimo Bold"/>
                  <a:sym typeface="Arimo Bold"/>
                </a:rPr>
                <a:t>DONE</a:t>
              </a:r>
            </a:p>
          </p:txBody>
        </p:sp>
      </p:grpSp>
      <p:grpSp>
        <p:nvGrpSpPr>
          <p:cNvPr id="14" name="Group 14"/>
          <p:cNvGrpSpPr/>
          <p:nvPr/>
        </p:nvGrpSpPr>
        <p:grpSpPr>
          <a:xfrm>
            <a:off x="1028700" y="4675803"/>
            <a:ext cx="4986954" cy="4582497"/>
            <a:chOff x="0" y="0"/>
            <a:chExt cx="14080983" cy="12938973"/>
          </a:xfrm>
        </p:grpSpPr>
        <p:sp>
          <p:nvSpPr>
            <p:cNvPr id="15" name="Freeform 15"/>
            <p:cNvSpPr/>
            <p:nvPr/>
          </p:nvSpPr>
          <p:spPr>
            <a:xfrm>
              <a:off x="0" y="0"/>
              <a:ext cx="14080984" cy="12938973"/>
            </a:xfrm>
            <a:custGeom>
              <a:avLst/>
              <a:gdLst/>
              <a:ahLst/>
              <a:cxnLst/>
              <a:rect l="l" t="t" r="r" b="b"/>
              <a:pathLst>
                <a:path w="14080984" h="12938973">
                  <a:moveTo>
                    <a:pt x="13956523" y="59690"/>
                  </a:moveTo>
                  <a:cubicBezTo>
                    <a:pt x="13992082" y="59690"/>
                    <a:pt x="14021293" y="88900"/>
                    <a:pt x="14021293" y="124460"/>
                  </a:cubicBezTo>
                  <a:lnTo>
                    <a:pt x="14021293" y="12814513"/>
                  </a:lnTo>
                  <a:cubicBezTo>
                    <a:pt x="14021293" y="12850073"/>
                    <a:pt x="13992082" y="12879283"/>
                    <a:pt x="13956523" y="12879283"/>
                  </a:cubicBezTo>
                  <a:lnTo>
                    <a:pt x="124460" y="12879283"/>
                  </a:lnTo>
                  <a:cubicBezTo>
                    <a:pt x="88900" y="12879283"/>
                    <a:pt x="59690" y="12850073"/>
                    <a:pt x="59690" y="12814513"/>
                  </a:cubicBezTo>
                  <a:lnTo>
                    <a:pt x="59690" y="124460"/>
                  </a:lnTo>
                  <a:cubicBezTo>
                    <a:pt x="59690" y="88900"/>
                    <a:pt x="88900" y="59690"/>
                    <a:pt x="124460" y="59690"/>
                  </a:cubicBezTo>
                  <a:lnTo>
                    <a:pt x="13956523" y="59690"/>
                  </a:lnTo>
                  <a:moveTo>
                    <a:pt x="13956523" y="0"/>
                  </a:moveTo>
                  <a:lnTo>
                    <a:pt x="124460" y="0"/>
                  </a:lnTo>
                  <a:cubicBezTo>
                    <a:pt x="55880" y="0"/>
                    <a:pt x="0" y="55880"/>
                    <a:pt x="0" y="124460"/>
                  </a:cubicBezTo>
                  <a:lnTo>
                    <a:pt x="0" y="12814513"/>
                  </a:lnTo>
                  <a:cubicBezTo>
                    <a:pt x="0" y="12883093"/>
                    <a:pt x="55880" y="12938973"/>
                    <a:pt x="124460" y="12938973"/>
                  </a:cubicBezTo>
                  <a:lnTo>
                    <a:pt x="13956523" y="12938973"/>
                  </a:lnTo>
                  <a:cubicBezTo>
                    <a:pt x="14025104" y="12938973"/>
                    <a:pt x="14080984" y="12883093"/>
                    <a:pt x="14080984" y="12814513"/>
                  </a:cubicBezTo>
                  <a:lnTo>
                    <a:pt x="14080984" y="124460"/>
                  </a:lnTo>
                  <a:cubicBezTo>
                    <a:pt x="14080982" y="55880"/>
                    <a:pt x="14025104" y="0"/>
                    <a:pt x="13956523" y="0"/>
                  </a:cubicBezTo>
                  <a:close/>
                </a:path>
              </a:pathLst>
            </a:custGeom>
            <a:solidFill>
              <a:srgbClr val="2B2929"/>
            </a:solidFill>
          </p:spPr>
          <p:txBody>
            <a:bodyPr/>
            <a:lstStyle/>
            <a:p>
              <a:endParaRPr lang="en-AE"/>
            </a:p>
          </p:txBody>
        </p:sp>
      </p:grpSp>
      <p:grpSp>
        <p:nvGrpSpPr>
          <p:cNvPr id="16" name="Group 16"/>
          <p:cNvGrpSpPr/>
          <p:nvPr/>
        </p:nvGrpSpPr>
        <p:grpSpPr>
          <a:xfrm>
            <a:off x="1494358" y="4033351"/>
            <a:ext cx="1284903" cy="1284903"/>
            <a:chOff x="0" y="0"/>
            <a:chExt cx="1713204" cy="1713204"/>
          </a:xfrm>
        </p:grpSpPr>
        <p:grpSp>
          <p:nvGrpSpPr>
            <p:cNvPr id="17" name="Group 17"/>
            <p:cNvGrpSpPr/>
            <p:nvPr/>
          </p:nvGrpSpPr>
          <p:grpSpPr>
            <a:xfrm>
              <a:off x="0" y="0"/>
              <a:ext cx="1713204" cy="1713204"/>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CE3F9"/>
              </a:solidFill>
            </p:spPr>
            <p:txBody>
              <a:bodyPr/>
              <a:lstStyle/>
              <a:p>
                <a:endParaRPr lang="en-AE"/>
              </a:p>
            </p:txBody>
          </p:sp>
        </p:grpSp>
        <p:grpSp>
          <p:nvGrpSpPr>
            <p:cNvPr id="19" name="Group 19"/>
            <p:cNvGrpSpPr>
              <a:grpSpLocks noChangeAspect="1"/>
            </p:cNvGrpSpPr>
            <p:nvPr/>
          </p:nvGrpSpPr>
          <p:grpSpPr>
            <a:xfrm>
              <a:off x="335705" y="335705"/>
              <a:ext cx="1041793" cy="1041793"/>
              <a:chOff x="0" y="0"/>
              <a:chExt cx="6355080" cy="6355080"/>
            </a:xfrm>
          </p:grpSpPr>
          <p:sp>
            <p:nvSpPr>
              <p:cNvPr id="20" name="Freeform 20"/>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B2929"/>
              </a:solidFill>
            </p:spPr>
            <p:txBody>
              <a:bodyPr/>
              <a:lstStyle/>
              <a:p>
                <a:endParaRPr lang="en-AE"/>
              </a:p>
            </p:txBody>
          </p:sp>
        </p:grpSp>
        <p:sp>
          <p:nvSpPr>
            <p:cNvPr id="21" name="Freeform 21"/>
            <p:cNvSpPr/>
            <p:nvPr/>
          </p:nvSpPr>
          <p:spPr>
            <a:xfrm>
              <a:off x="513109" y="591800"/>
              <a:ext cx="686986" cy="529604"/>
            </a:xfrm>
            <a:custGeom>
              <a:avLst/>
              <a:gdLst/>
              <a:ahLst/>
              <a:cxnLst/>
              <a:rect l="l" t="t" r="r" b="b"/>
              <a:pathLst>
                <a:path w="686986" h="529604">
                  <a:moveTo>
                    <a:pt x="0" y="0"/>
                  </a:moveTo>
                  <a:lnTo>
                    <a:pt x="686986" y="0"/>
                  </a:lnTo>
                  <a:lnTo>
                    <a:pt x="686986" y="529604"/>
                  </a:lnTo>
                  <a:lnTo>
                    <a:pt x="0" y="5296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E"/>
            </a:p>
          </p:txBody>
        </p:sp>
      </p:grpSp>
      <p:grpSp>
        <p:nvGrpSpPr>
          <p:cNvPr id="22" name="Group 22"/>
          <p:cNvGrpSpPr/>
          <p:nvPr/>
        </p:nvGrpSpPr>
        <p:grpSpPr>
          <a:xfrm>
            <a:off x="6650523" y="4675803"/>
            <a:ext cx="4986954" cy="4582497"/>
            <a:chOff x="0" y="0"/>
            <a:chExt cx="14080983" cy="12938973"/>
          </a:xfrm>
        </p:grpSpPr>
        <p:sp>
          <p:nvSpPr>
            <p:cNvPr id="23" name="Freeform 23"/>
            <p:cNvSpPr/>
            <p:nvPr/>
          </p:nvSpPr>
          <p:spPr>
            <a:xfrm>
              <a:off x="0" y="0"/>
              <a:ext cx="14080984" cy="12938973"/>
            </a:xfrm>
            <a:custGeom>
              <a:avLst/>
              <a:gdLst/>
              <a:ahLst/>
              <a:cxnLst/>
              <a:rect l="l" t="t" r="r" b="b"/>
              <a:pathLst>
                <a:path w="14080984" h="12938973">
                  <a:moveTo>
                    <a:pt x="13956523" y="59690"/>
                  </a:moveTo>
                  <a:cubicBezTo>
                    <a:pt x="13992082" y="59690"/>
                    <a:pt x="14021293" y="88900"/>
                    <a:pt x="14021293" y="124460"/>
                  </a:cubicBezTo>
                  <a:lnTo>
                    <a:pt x="14021293" y="12814513"/>
                  </a:lnTo>
                  <a:cubicBezTo>
                    <a:pt x="14021293" y="12850073"/>
                    <a:pt x="13992082" y="12879283"/>
                    <a:pt x="13956523" y="12879283"/>
                  </a:cubicBezTo>
                  <a:lnTo>
                    <a:pt x="124460" y="12879283"/>
                  </a:lnTo>
                  <a:cubicBezTo>
                    <a:pt x="88900" y="12879283"/>
                    <a:pt x="59690" y="12850073"/>
                    <a:pt x="59690" y="12814513"/>
                  </a:cubicBezTo>
                  <a:lnTo>
                    <a:pt x="59690" y="124460"/>
                  </a:lnTo>
                  <a:cubicBezTo>
                    <a:pt x="59690" y="88900"/>
                    <a:pt x="88900" y="59690"/>
                    <a:pt x="124460" y="59690"/>
                  </a:cubicBezTo>
                  <a:lnTo>
                    <a:pt x="13956523" y="59690"/>
                  </a:lnTo>
                  <a:moveTo>
                    <a:pt x="13956523" y="0"/>
                  </a:moveTo>
                  <a:lnTo>
                    <a:pt x="124460" y="0"/>
                  </a:lnTo>
                  <a:cubicBezTo>
                    <a:pt x="55880" y="0"/>
                    <a:pt x="0" y="55880"/>
                    <a:pt x="0" y="124460"/>
                  </a:cubicBezTo>
                  <a:lnTo>
                    <a:pt x="0" y="12814513"/>
                  </a:lnTo>
                  <a:cubicBezTo>
                    <a:pt x="0" y="12883093"/>
                    <a:pt x="55880" y="12938973"/>
                    <a:pt x="124460" y="12938973"/>
                  </a:cubicBezTo>
                  <a:lnTo>
                    <a:pt x="13956523" y="12938973"/>
                  </a:lnTo>
                  <a:cubicBezTo>
                    <a:pt x="14025104" y="12938973"/>
                    <a:pt x="14080984" y="12883093"/>
                    <a:pt x="14080984" y="12814513"/>
                  </a:cubicBezTo>
                  <a:lnTo>
                    <a:pt x="14080984" y="124460"/>
                  </a:lnTo>
                  <a:cubicBezTo>
                    <a:pt x="14080982" y="55880"/>
                    <a:pt x="14025104" y="0"/>
                    <a:pt x="13956523" y="0"/>
                  </a:cubicBezTo>
                  <a:close/>
                </a:path>
              </a:pathLst>
            </a:custGeom>
            <a:solidFill>
              <a:srgbClr val="2B2929"/>
            </a:solidFill>
          </p:spPr>
          <p:txBody>
            <a:bodyPr/>
            <a:lstStyle/>
            <a:p>
              <a:endParaRPr lang="en-AE"/>
            </a:p>
          </p:txBody>
        </p:sp>
      </p:grpSp>
      <p:grpSp>
        <p:nvGrpSpPr>
          <p:cNvPr id="24" name="Group 24"/>
          <p:cNvGrpSpPr/>
          <p:nvPr/>
        </p:nvGrpSpPr>
        <p:grpSpPr>
          <a:xfrm>
            <a:off x="12272346" y="4675803"/>
            <a:ext cx="4986954" cy="4582497"/>
            <a:chOff x="0" y="0"/>
            <a:chExt cx="14080983" cy="12938973"/>
          </a:xfrm>
        </p:grpSpPr>
        <p:sp>
          <p:nvSpPr>
            <p:cNvPr id="25" name="Freeform 25"/>
            <p:cNvSpPr/>
            <p:nvPr/>
          </p:nvSpPr>
          <p:spPr>
            <a:xfrm>
              <a:off x="0" y="0"/>
              <a:ext cx="14080984" cy="12938973"/>
            </a:xfrm>
            <a:custGeom>
              <a:avLst/>
              <a:gdLst/>
              <a:ahLst/>
              <a:cxnLst/>
              <a:rect l="l" t="t" r="r" b="b"/>
              <a:pathLst>
                <a:path w="14080984" h="12938973">
                  <a:moveTo>
                    <a:pt x="13956523" y="59690"/>
                  </a:moveTo>
                  <a:cubicBezTo>
                    <a:pt x="13992082" y="59690"/>
                    <a:pt x="14021293" y="88900"/>
                    <a:pt x="14021293" y="124460"/>
                  </a:cubicBezTo>
                  <a:lnTo>
                    <a:pt x="14021293" y="12814513"/>
                  </a:lnTo>
                  <a:cubicBezTo>
                    <a:pt x="14021293" y="12850073"/>
                    <a:pt x="13992082" y="12879283"/>
                    <a:pt x="13956523" y="12879283"/>
                  </a:cubicBezTo>
                  <a:lnTo>
                    <a:pt x="124460" y="12879283"/>
                  </a:lnTo>
                  <a:cubicBezTo>
                    <a:pt x="88900" y="12879283"/>
                    <a:pt x="59690" y="12850073"/>
                    <a:pt x="59690" y="12814513"/>
                  </a:cubicBezTo>
                  <a:lnTo>
                    <a:pt x="59690" y="124460"/>
                  </a:lnTo>
                  <a:cubicBezTo>
                    <a:pt x="59690" y="88900"/>
                    <a:pt x="88900" y="59690"/>
                    <a:pt x="124460" y="59690"/>
                  </a:cubicBezTo>
                  <a:lnTo>
                    <a:pt x="13956523" y="59690"/>
                  </a:lnTo>
                  <a:moveTo>
                    <a:pt x="13956523" y="0"/>
                  </a:moveTo>
                  <a:lnTo>
                    <a:pt x="124460" y="0"/>
                  </a:lnTo>
                  <a:cubicBezTo>
                    <a:pt x="55880" y="0"/>
                    <a:pt x="0" y="55880"/>
                    <a:pt x="0" y="124460"/>
                  </a:cubicBezTo>
                  <a:lnTo>
                    <a:pt x="0" y="12814513"/>
                  </a:lnTo>
                  <a:cubicBezTo>
                    <a:pt x="0" y="12883093"/>
                    <a:pt x="55880" y="12938973"/>
                    <a:pt x="124460" y="12938973"/>
                  </a:cubicBezTo>
                  <a:lnTo>
                    <a:pt x="13956523" y="12938973"/>
                  </a:lnTo>
                  <a:cubicBezTo>
                    <a:pt x="14025104" y="12938973"/>
                    <a:pt x="14080984" y="12883093"/>
                    <a:pt x="14080984" y="12814513"/>
                  </a:cubicBezTo>
                  <a:lnTo>
                    <a:pt x="14080984" y="124460"/>
                  </a:lnTo>
                  <a:cubicBezTo>
                    <a:pt x="14080982" y="55880"/>
                    <a:pt x="14025104" y="0"/>
                    <a:pt x="13956523" y="0"/>
                  </a:cubicBezTo>
                  <a:close/>
                </a:path>
              </a:pathLst>
            </a:custGeom>
            <a:solidFill>
              <a:srgbClr val="2B2929"/>
            </a:solidFill>
          </p:spPr>
          <p:txBody>
            <a:bodyPr/>
            <a:lstStyle/>
            <a:p>
              <a:endParaRPr lang="en-AE"/>
            </a:p>
          </p:txBody>
        </p:sp>
      </p:grpSp>
      <p:grpSp>
        <p:nvGrpSpPr>
          <p:cNvPr id="26" name="Group 26"/>
          <p:cNvGrpSpPr/>
          <p:nvPr/>
        </p:nvGrpSpPr>
        <p:grpSpPr>
          <a:xfrm>
            <a:off x="7116181" y="4033351"/>
            <a:ext cx="1284903" cy="1284903"/>
            <a:chOff x="0" y="0"/>
            <a:chExt cx="1713204" cy="1713204"/>
          </a:xfrm>
        </p:grpSpPr>
        <p:grpSp>
          <p:nvGrpSpPr>
            <p:cNvPr id="27" name="Group 27"/>
            <p:cNvGrpSpPr/>
            <p:nvPr/>
          </p:nvGrpSpPr>
          <p:grpSpPr>
            <a:xfrm>
              <a:off x="0" y="0"/>
              <a:ext cx="1713204" cy="1713204"/>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D5642"/>
              </a:solidFill>
            </p:spPr>
            <p:txBody>
              <a:bodyPr/>
              <a:lstStyle/>
              <a:p>
                <a:endParaRPr lang="en-AE"/>
              </a:p>
            </p:txBody>
          </p:sp>
        </p:grpSp>
        <p:pic>
          <p:nvPicPr>
            <p:cNvPr id="29" name="Picture 29"/>
            <p:cNvPicPr>
              <a:picLocks noChangeAspect="1"/>
            </p:cNvPicPr>
            <p:nvPr/>
          </p:nvPicPr>
          <p:blipFill>
            <a:blip r:embed="rId2"/>
            <a:srcRect/>
            <a:stretch>
              <a:fillRect/>
            </a:stretch>
          </p:blipFill>
          <p:spPr>
            <a:xfrm>
              <a:off x="335705" y="335705"/>
              <a:ext cx="1041793" cy="1041793"/>
            </a:xfrm>
            <a:prstGeom prst="rect">
              <a:avLst/>
            </a:prstGeom>
          </p:spPr>
        </p:pic>
      </p:grpSp>
      <p:grpSp>
        <p:nvGrpSpPr>
          <p:cNvPr id="30" name="Group 30"/>
          <p:cNvGrpSpPr/>
          <p:nvPr/>
        </p:nvGrpSpPr>
        <p:grpSpPr>
          <a:xfrm>
            <a:off x="12738004" y="4033351"/>
            <a:ext cx="1284903" cy="1284903"/>
            <a:chOff x="0" y="0"/>
            <a:chExt cx="1713204" cy="1713204"/>
          </a:xfrm>
        </p:grpSpPr>
        <p:grpSp>
          <p:nvGrpSpPr>
            <p:cNvPr id="31" name="Group 31"/>
            <p:cNvGrpSpPr/>
            <p:nvPr/>
          </p:nvGrpSpPr>
          <p:grpSpPr>
            <a:xfrm>
              <a:off x="0" y="0"/>
              <a:ext cx="1713204" cy="1713204"/>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B12"/>
              </a:solidFill>
            </p:spPr>
            <p:txBody>
              <a:bodyPr/>
              <a:lstStyle/>
              <a:p>
                <a:endParaRPr lang="en-AE"/>
              </a:p>
            </p:txBody>
          </p:sp>
        </p:grpSp>
        <p:pic>
          <p:nvPicPr>
            <p:cNvPr id="33" name="Picture 33"/>
            <p:cNvPicPr>
              <a:picLocks noChangeAspect="1"/>
            </p:cNvPicPr>
            <p:nvPr/>
          </p:nvPicPr>
          <p:blipFill>
            <a:blip r:embed="rId2"/>
            <a:srcRect/>
            <a:stretch>
              <a:fillRect/>
            </a:stretch>
          </p:blipFill>
          <p:spPr>
            <a:xfrm>
              <a:off x="335705" y="335705"/>
              <a:ext cx="1041793" cy="1041793"/>
            </a:xfrm>
            <a:prstGeom prst="rect">
              <a:avLst/>
            </a:prstGeom>
          </p:spPr>
        </p:pic>
      </p:grpSp>
      <p:sp>
        <p:nvSpPr>
          <p:cNvPr id="34" name="TextBox 34"/>
          <p:cNvSpPr txBox="1"/>
          <p:nvPr/>
        </p:nvSpPr>
        <p:spPr>
          <a:xfrm>
            <a:off x="1028700" y="1280817"/>
            <a:ext cx="11523640" cy="1477328"/>
          </a:xfrm>
          <a:prstGeom prst="rect">
            <a:avLst/>
          </a:prstGeom>
        </p:spPr>
        <p:txBody>
          <a:bodyPr lIns="0" tIns="0" rIns="0" bIns="0" rtlCol="0" anchor="t">
            <a:spAutoFit/>
          </a:bodyPr>
          <a:lstStyle/>
          <a:p>
            <a:r>
              <a:rPr lang="en-US" sz="9600" b="1" dirty="0"/>
              <a:t>Weekly Progress Goals</a:t>
            </a:r>
            <a:endParaRPr lang="en-US" sz="9600" dirty="0"/>
          </a:p>
        </p:txBody>
      </p:sp>
      <p:grpSp>
        <p:nvGrpSpPr>
          <p:cNvPr id="35" name="Group 35"/>
          <p:cNvGrpSpPr/>
          <p:nvPr/>
        </p:nvGrpSpPr>
        <p:grpSpPr>
          <a:xfrm>
            <a:off x="1494358" y="5318254"/>
            <a:ext cx="4055638" cy="3687929"/>
            <a:chOff x="0" y="-441958"/>
            <a:chExt cx="5407517" cy="4917239"/>
          </a:xfrm>
        </p:grpSpPr>
        <p:sp>
          <p:nvSpPr>
            <p:cNvPr id="36" name="TextBox 36"/>
            <p:cNvSpPr txBox="1"/>
            <p:nvPr/>
          </p:nvSpPr>
          <p:spPr>
            <a:xfrm>
              <a:off x="0" y="-441958"/>
              <a:ext cx="5407517" cy="1252008"/>
            </a:xfrm>
            <a:prstGeom prst="rect">
              <a:avLst/>
            </a:prstGeom>
          </p:spPr>
          <p:txBody>
            <a:bodyPr lIns="0" tIns="0" rIns="0" bIns="0" rtlCol="0" anchor="t">
              <a:spAutoFit/>
            </a:bodyPr>
            <a:lstStyle/>
            <a:p>
              <a:pPr marL="0" lvl="0" indent="0" algn="l">
                <a:lnSpc>
                  <a:spcPts val="7700"/>
                </a:lnSpc>
              </a:pPr>
              <a:r>
                <a:rPr lang="en-US" sz="5500" b="1" spc="-110" dirty="0">
                  <a:solidFill>
                    <a:srgbClr val="2B2929"/>
                  </a:solidFill>
                  <a:latin typeface="Arimo Bold"/>
                  <a:ea typeface="Arimo Bold"/>
                  <a:cs typeface="Arimo Bold"/>
                  <a:sym typeface="Arimo Bold"/>
                </a:rPr>
                <a:t>01</a:t>
              </a:r>
            </a:p>
          </p:txBody>
        </p:sp>
        <p:sp>
          <p:nvSpPr>
            <p:cNvPr id="37" name="TextBox 37"/>
            <p:cNvSpPr txBox="1"/>
            <p:nvPr/>
          </p:nvSpPr>
          <p:spPr>
            <a:xfrm>
              <a:off x="0" y="2013069"/>
              <a:ext cx="5407517" cy="2462212"/>
            </a:xfrm>
            <a:prstGeom prst="rect">
              <a:avLst/>
            </a:prstGeom>
          </p:spPr>
          <p:txBody>
            <a:bodyPr lIns="0" tIns="0" rIns="0" bIns="0" rtlCol="0" anchor="t">
              <a:spAutoFit/>
            </a:bodyPr>
            <a:lstStyle/>
            <a:p>
              <a:r>
                <a:rPr lang="en-US" sz="2000" dirty="0"/>
                <a:t>The full CAD model of the robotic arm was finalized, including joint geometry, link dimensions, and end-effector integration. The design is now ready for simulation and control integration.</a:t>
              </a:r>
            </a:p>
            <a:p>
              <a:endParaRPr lang="en-US" sz="2000" dirty="0"/>
            </a:p>
          </p:txBody>
        </p:sp>
        <p:sp>
          <p:nvSpPr>
            <p:cNvPr id="38" name="TextBox 38"/>
            <p:cNvSpPr txBox="1"/>
            <p:nvPr/>
          </p:nvSpPr>
          <p:spPr>
            <a:xfrm>
              <a:off x="0" y="736806"/>
              <a:ext cx="5407517" cy="1084828"/>
            </a:xfrm>
            <a:prstGeom prst="rect">
              <a:avLst/>
            </a:prstGeom>
          </p:spPr>
          <p:txBody>
            <a:bodyPr lIns="0" tIns="0" rIns="0" bIns="0" rtlCol="0" anchor="t">
              <a:spAutoFit/>
            </a:bodyPr>
            <a:lstStyle/>
            <a:p>
              <a:pPr lvl="0">
                <a:lnSpc>
                  <a:spcPts val="3250"/>
                </a:lnSpc>
              </a:pPr>
              <a:r>
                <a:rPr lang="en-US" sz="2500" b="1" spc="-75" dirty="0">
                  <a:solidFill>
                    <a:srgbClr val="2B2929"/>
                  </a:solidFill>
                  <a:latin typeface="Arimo Bold"/>
                  <a:ea typeface="Arimo Bold"/>
                  <a:cs typeface="Arimo Bold"/>
                  <a:sym typeface="Arimo Bold"/>
                </a:rPr>
                <a:t>ROBOTIC ARM DESIGN FINALIZATION</a:t>
              </a:r>
            </a:p>
          </p:txBody>
        </p:sp>
      </p:grpSp>
      <p:grpSp>
        <p:nvGrpSpPr>
          <p:cNvPr id="39" name="Group 39"/>
          <p:cNvGrpSpPr/>
          <p:nvPr/>
        </p:nvGrpSpPr>
        <p:grpSpPr>
          <a:xfrm>
            <a:off x="6849514" y="5271928"/>
            <a:ext cx="4690508" cy="4268978"/>
            <a:chOff x="-355556" y="-680380"/>
            <a:chExt cx="6254010" cy="5691970"/>
          </a:xfrm>
        </p:grpSpPr>
        <p:sp>
          <p:nvSpPr>
            <p:cNvPr id="40" name="TextBox 40"/>
            <p:cNvSpPr txBox="1"/>
            <p:nvPr/>
          </p:nvSpPr>
          <p:spPr>
            <a:xfrm>
              <a:off x="0" y="-680380"/>
              <a:ext cx="5407517" cy="1252008"/>
            </a:xfrm>
            <a:prstGeom prst="rect">
              <a:avLst/>
            </a:prstGeom>
          </p:spPr>
          <p:txBody>
            <a:bodyPr lIns="0" tIns="0" rIns="0" bIns="0" rtlCol="0" anchor="t">
              <a:spAutoFit/>
            </a:bodyPr>
            <a:lstStyle/>
            <a:p>
              <a:pPr marL="0" lvl="0" indent="0" algn="l">
                <a:lnSpc>
                  <a:spcPts val="7700"/>
                </a:lnSpc>
                <a:spcBef>
                  <a:spcPct val="0"/>
                </a:spcBef>
              </a:pPr>
              <a:r>
                <a:rPr lang="en-US" sz="5500" b="1" u="none" spc="-110" dirty="0">
                  <a:solidFill>
                    <a:srgbClr val="2B2929"/>
                  </a:solidFill>
                  <a:latin typeface="Arimo Bold"/>
                  <a:ea typeface="Arimo Bold"/>
                  <a:cs typeface="Arimo Bold"/>
                  <a:sym typeface="Arimo Bold"/>
                </a:rPr>
                <a:t>02</a:t>
              </a:r>
            </a:p>
          </p:txBody>
        </p:sp>
        <p:sp>
          <p:nvSpPr>
            <p:cNvPr id="41" name="TextBox 41"/>
            <p:cNvSpPr txBox="1"/>
            <p:nvPr/>
          </p:nvSpPr>
          <p:spPr>
            <a:xfrm>
              <a:off x="-355556" y="1702052"/>
              <a:ext cx="6254010" cy="3309538"/>
            </a:xfrm>
            <a:prstGeom prst="rect">
              <a:avLst/>
            </a:prstGeom>
          </p:spPr>
          <p:txBody>
            <a:bodyPr wrap="square" lIns="0" tIns="0" rIns="0" bIns="0" rtlCol="0" anchor="t">
              <a:spAutoFit/>
            </a:bodyPr>
            <a:lstStyle/>
            <a:p>
              <a:pPr>
                <a:lnSpc>
                  <a:spcPts val="2800"/>
                </a:lnSpc>
                <a:spcBef>
                  <a:spcPct val="0"/>
                </a:spcBef>
              </a:pPr>
              <a:r>
                <a:rPr lang="en-US" sz="2000" dirty="0"/>
                <a:t>A vacuum-based gripper was integrated into the end-effector. Suction force calculations were performed based on object weight, and the required pressure from the compressor was determined. Component selection is nearing completion.</a:t>
              </a:r>
              <a:br>
                <a:rPr lang="en-US" sz="2000" dirty="0"/>
              </a:br>
              <a:endParaRPr lang="en-US" sz="2000" dirty="0">
                <a:solidFill>
                  <a:srgbClr val="2B2929"/>
                </a:solidFill>
                <a:latin typeface="Arimo"/>
                <a:ea typeface="Arimo"/>
                <a:cs typeface="Arimo"/>
                <a:sym typeface="Arimo"/>
              </a:endParaRPr>
            </a:p>
          </p:txBody>
        </p:sp>
        <p:sp>
          <p:nvSpPr>
            <p:cNvPr id="42" name="TextBox 42"/>
            <p:cNvSpPr txBox="1"/>
            <p:nvPr/>
          </p:nvSpPr>
          <p:spPr>
            <a:xfrm>
              <a:off x="0" y="539248"/>
              <a:ext cx="5040558" cy="1084828"/>
            </a:xfrm>
            <a:prstGeom prst="rect">
              <a:avLst/>
            </a:prstGeom>
          </p:spPr>
          <p:txBody>
            <a:bodyPr wrap="square" lIns="0" tIns="0" rIns="0" bIns="0" rtlCol="0" anchor="t">
              <a:spAutoFit/>
            </a:bodyPr>
            <a:lstStyle/>
            <a:p>
              <a:pPr lvl="0">
                <a:lnSpc>
                  <a:spcPts val="3250"/>
                </a:lnSpc>
              </a:pPr>
              <a:r>
                <a:rPr lang="en-US" sz="2500" b="1" spc="-75" dirty="0">
                  <a:solidFill>
                    <a:srgbClr val="2B2929"/>
                  </a:solidFill>
                  <a:latin typeface="Arimo Bold"/>
                  <a:ea typeface="Arimo Bold"/>
                  <a:cs typeface="Arimo Bold"/>
                  <a:sym typeface="Arimo Bold"/>
                </a:rPr>
                <a:t>PNEUMATIC GRIPPER SYSTEM</a:t>
              </a:r>
            </a:p>
          </p:txBody>
        </p:sp>
      </p:grpSp>
      <p:grpSp>
        <p:nvGrpSpPr>
          <p:cNvPr id="43" name="Group 43"/>
          <p:cNvGrpSpPr/>
          <p:nvPr/>
        </p:nvGrpSpPr>
        <p:grpSpPr>
          <a:xfrm>
            <a:off x="12615034" y="5247643"/>
            <a:ext cx="4296022" cy="3907063"/>
            <a:chOff x="-163960" y="-712760"/>
            <a:chExt cx="5728029" cy="5209417"/>
          </a:xfrm>
        </p:grpSpPr>
        <p:sp>
          <p:nvSpPr>
            <p:cNvPr id="44" name="TextBox 44"/>
            <p:cNvSpPr txBox="1"/>
            <p:nvPr/>
          </p:nvSpPr>
          <p:spPr>
            <a:xfrm>
              <a:off x="-163960" y="-712760"/>
              <a:ext cx="5407517" cy="1252008"/>
            </a:xfrm>
            <a:prstGeom prst="rect">
              <a:avLst/>
            </a:prstGeom>
          </p:spPr>
          <p:txBody>
            <a:bodyPr lIns="0" tIns="0" rIns="0" bIns="0" rtlCol="0" anchor="t">
              <a:spAutoFit/>
            </a:bodyPr>
            <a:lstStyle/>
            <a:p>
              <a:pPr marL="0" lvl="0" indent="0" algn="l">
                <a:lnSpc>
                  <a:spcPts val="7700"/>
                </a:lnSpc>
                <a:spcBef>
                  <a:spcPct val="0"/>
                </a:spcBef>
              </a:pPr>
              <a:r>
                <a:rPr lang="en-US" sz="5500" b="1" u="none" spc="-110" dirty="0">
                  <a:solidFill>
                    <a:srgbClr val="2B2929"/>
                  </a:solidFill>
                  <a:latin typeface="Arimo Bold"/>
                  <a:ea typeface="Arimo Bold"/>
                  <a:cs typeface="Arimo Bold"/>
                  <a:sym typeface="Arimo Bold"/>
                </a:rPr>
                <a:t>03</a:t>
              </a:r>
            </a:p>
          </p:txBody>
        </p:sp>
        <p:sp>
          <p:nvSpPr>
            <p:cNvPr id="45" name="TextBox 45"/>
            <p:cNvSpPr txBox="1"/>
            <p:nvPr/>
          </p:nvSpPr>
          <p:spPr>
            <a:xfrm>
              <a:off x="0" y="1624076"/>
              <a:ext cx="5407517" cy="2872581"/>
            </a:xfrm>
            <a:prstGeom prst="rect">
              <a:avLst/>
            </a:prstGeom>
          </p:spPr>
          <p:txBody>
            <a:bodyPr lIns="0" tIns="0" rIns="0" bIns="0" rtlCol="0" anchor="t">
              <a:spAutoFit/>
            </a:bodyPr>
            <a:lstStyle/>
            <a:p>
              <a:r>
                <a:rPr lang="en-US" sz="2000" dirty="0"/>
                <a:t>Joint torque requirements were calculated based on arm geometry and payload. The full system model was converted into URDF and integrated into ROS2 MoveIt2 for motion planning and simulation using the actual robot geometry.</a:t>
              </a:r>
            </a:p>
          </p:txBody>
        </p:sp>
        <p:sp>
          <p:nvSpPr>
            <p:cNvPr id="46" name="TextBox 46"/>
            <p:cNvSpPr txBox="1"/>
            <p:nvPr/>
          </p:nvSpPr>
          <p:spPr>
            <a:xfrm>
              <a:off x="156552" y="452172"/>
              <a:ext cx="5407517" cy="1084828"/>
            </a:xfrm>
            <a:prstGeom prst="rect">
              <a:avLst/>
            </a:prstGeom>
          </p:spPr>
          <p:txBody>
            <a:bodyPr lIns="0" tIns="0" rIns="0" bIns="0" rtlCol="0" anchor="t">
              <a:spAutoFit/>
            </a:bodyPr>
            <a:lstStyle/>
            <a:p>
              <a:pPr lvl="0">
                <a:lnSpc>
                  <a:spcPts val="3250"/>
                </a:lnSpc>
              </a:pPr>
              <a:r>
                <a:rPr lang="en-US" sz="2500" b="1" spc="-75" dirty="0">
                  <a:solidFill>
                    <a:srgbClr val="2B2929"/>
                  </a:solidFill>
                  <a:latin typeface="Arimo Bold"/>
                  <a:ea typeface="Arimo Bold"/>
                  <a:cs typeface="Arimo Bold"/>
                  <a:sym typeface="Arimo Bold"/>
                </a:rPr>
                <a:t>MECHANICAL &amp; CONTROL VALIDATION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3045253" y="2000250"/>
            <a:ext cx="9525" cy="8286750"/>
          </a:xfrm>
          <a:prstGeom prst="rect">
            <a:avLst/>
          </a:prstGeom>
          <a:solidFill>
            <a:srgbClr val="2B2929"/>
          </a:solidFill>
        </p:spPr>
        <p:txBody>
          <a:bodyPr/>
          <a:lstStyle/>
          <a:p>
            <a:endParaRPr lang="en-AE"/>
          </a:p>
        </p:txBody>
      </p:sp>
      <p:grpSp>
        <p:nvGrpSpPr>
          <p:cNvPr id="3" name="Group 3"/>
          <p:cNvGrpSpPr/>
          <p:nvPr/>
        </p:nvGrpSpPr>
        <p:grpSpPr>
          <a:xfrm>
            <a:off x="12624930" y="1579926"/>
            <a:ext cx="840647" cy="840647"/>
            <a:chOff x="0" y="0"/>
            <a:chExt cx="1120863" cy="1120863"/>
          </a:xfrm>
        </p:grpSpPr>
        <p:sp>
          <p:nvSpPr>
            <p:cNvPr id="4" name="Freeform 4"/>
            <p:cNvSpPr/>
            <p:nvPr/>
          </p:nvSpPr>
          <p:spPr>
            <a:xfrm rot="-5400000">
              <a:off x="0" y="0"/>
              <a:ext cx="1120863" cy="1120863"/>
            </a:xfrm>
            <a:custGeom>
              <a:avLst/>
              <a:gdLst/>
              <a:ahLst/>
              <a:cxnLst/>
              <a:rect l="l" t="t" r="r" b="b"/>
              <a:pathLst>
                <a:path w="1120863" h="1120863">
                  <a:moveTo>
                    <a:pt x="0" y="0"/>
                  </a:moveTo>
                  <a:lnTo>
                    <a:pt x="1120863" y="0"/>
                  </a:lnTo>
                  <a:lnTo>
                    <a:pt x="1120863" y="1120863"/>
                  </a:lnTo>
                  <a:lnTo>
                    <a:pt x="0" y="112086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sp>
          <p:nvSpPr>
            <p:cNvPr id="5" name="TextBox 5"/>
            <p:cNvSpPr txBox="1"/>
            <p:nvPr/>
          </p:nvSpPr>
          <p:spPr>
            <a:xfrm>
              <a:off x="231294" y="208007"/>
              <a:ext cx="658276" cy="657225"/>
            </a:xfrm>
            <a:prstGeom prst="rect">
              <a:avLst/>
            </a:prstGeom>
          </p:spPr>
          <p:txBody>
            <a:bodyPr lIns="0" tIns="0" rIns="0" bIns="0" rtlCol="0" anchor="t">
              <a:spAutoFit/>
            </a:bodyPr>
            <a:lstStyle/>
            <a:p>
              <a:pPr algn="ctr">
                <a:lnSpc>
                  <a:spcPts val="3900"/>
                </a:lnSpc>
              </a:pPr>
              <a:r>
                <a:rPr lang="en-US" sz="3000" b="1" spc="303">
                  <a:solidFill>
                    <a:srgbClr val="FFFFFF"/>
                  </a:solidFill>
                  <a:latin typeface="Arimo Bold"/>
                  <a:ea typeface="Arimo Bold"/>
                  <a:cs typeface="Arimo Bold"/>
                  <a:sym typeface="Arimo Bold"/>
                </a:rPr>
                <a:t>1</a:t>
              </a:r>
            </a:p>
          </p:txBody>
        </p:sp>
      </p:grpSp>
      <p:grpSp>
        <p:nvGrpSpPr>
          <p:cNvPr id="6" name="Group 6"/>
          <p:cNvGrpSpPr/>
          <p:nvPr/>
        </p:nvGrpSpPr>
        <p:grpSpPr>
          <a:xfrm>
            <a:off x="12624930" y="3675426"/>
            <a:ext cx="840647" cy="840647"/>
            <a:chOff x="0" y="0"/>
            <a:chExt cx="1120863" cy="1120863"/>
          </a:xfrm>
        </p:grpSpPr>
        <p:sp>
          <p:nvSpPr>
            <p:cNvPr id="7" name="Freeform 7"/>
            <p:cNvSpPr/>
            <p:nvPr/>
          </p:nvSpPr>
          <p:spPr>
            <a:xfrm rot="-5400000">
              <a:off x="0" y="0"/>
              <a:ext cx="1120863" cy="1120863"/>
            </a:xfrm>
            <a:custGeom>
              <a:avLst/>
              <a:gdLst/>
              <a:ahLst/>
              <a:cxnLst/>
              <a:rect l="l" t="t" r="r" b="b"/>
              <a:pathLst>
                <a:path w="1120863" h="1120863">
                  <a:moveTo>
                    <a:pt x="0" y="0"/>
                  </a:moveTo>
                  <a:lnTo>
                    <a:pt x="1120863" y="0"/>
                  </a:lnTo>
                  <a:lnTo>
                    <a:pt x="1120863" y="1120863"/>
                  </a:lnTo>
                  <a:lnTo>
                    <a:pt x="0" y="11208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E"/>
            </a:p>
          </p:txBody>
        </p:sp>
        <p:sp>
          <p:nvSpPr>
            <p:cNvPr id="8" name="TextBox 8"/>
            <p:cNvSpPr txBox="1"/>
            <p:nvPr/>
          </p:nvSpPr>
          <p:spPr>
            <a:xfrm>
              <a:off x="231294" y="211215"/>
              <a:ext cx="658276" cy="650809"/>
            </a:xfrm>
            <a:prstGeom prst="rect">
              <a:avLst/>
            </a:prstGeom>
          </p:spPr>
          <p:txBody>
            <a:bodyPr lIns="0" tIns="0" rIns="0" bIns="0" rtlCol="0" anchor="t">
              <a:spAutoFit/>
            </a:bodyPr>
            <a:lstStyle/>
            <a:p>
              <a:pPr marL="0" lvl="0" indent="0" algn="ctr">
                <a:lnSpc>
                  <a:spcPts val="3900"/>
                </a:lnSpc>
                <a:spcBef>
                  <a:spcPct val="0"/>
                </a:spcBef>
              </a:pPr>
              <a:r>
                <a:rPr lang="en-US" sz="3000" b="1" u="none" spc="303">
                  <a:solidFill>
                    <a:srgbClr val="FFFFFF"/>
                  </a:solidFill>
                  <a:latin typeface="Arimo Bold"/>
                  <a:ea typeface="Arimo Bold"/>
                  <a:cs typeface="Arimo Bold"/>
                  <a:sym typeface="Arimo Bold"/>
                </a:rPr>
                <a:t>2</a:t>
              </a:r>
            </a:p>
          </p:txBody>
        </p:sp>
      </p:grpSp>
      <p:grpSp>
        <p:nvGrpSpPr>
          <p:cNvPr id="9" name="Group 9"/>
          <p:cNvGrpSpPr/>
          <p:nvPr/>
        </p:nvGrpSpPr>
        <p:grpSpPr>
          <a:xfrm>
            <a:off x="12624930" y="5770926"/>
            <a:ext cx="840647" cy="840647"/>
            <a:chOff x="0" y="0"/>
            <a:chExt cx="1120863" cy="1120863"/>
          </a:xfrm>
        </p:grpSpPr>
        <p:sp>
          <p:nvSpPr>
            <p:cNvPr id="10" name="Freeform 10"/>
            <p:cNvSpPr/>
            <p:nvPr/>
          </p:nvSpPr>
          <p:spPr>
            <a:xfrm rot="-5400000">
              <a:off x="0" y="0"/>
              <a:ext cx="1120863" cy="1120863"/>
            </a:xfrm>
            <a:custGeom>
              <a:avLst/>
              <a:gdLst/>
              <a:ahLst/>
              <a:cxnLst/>
              <a:rect l="l" t="t" r="r" b="b"/>
              <a:pathLst>
                <a:path w="1120863" h="1120863">
                  <a:moveTo>
                    <a:pt x="0" y="0"/>
                  </a:moveTo>
                  <a:lnTo>
                    <a:pt x="1120863" y="0"/>
                  </a:lnTo>
                  <a:lnTo>
                    <a:pt x="1120863" y="1120863"/>
                  </a:lnTo>
                  <a:lnTo>
                    <a:pt x="0" y="11208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E"/>
            </a:p>
          </p:txBody>
        </p:sp>
        <p:sp>
          <p:nvSpPr>
            <p:cNvPr id="11" name="TextBox 11"/>
            <p:cNvSpPr txBox="1"/>
            <p:nvPr/>
          </p:nvSpPr>
          <p:spPr>
            <a:xfrm>
              <a:off x="231294" y="211215"/>
              <a:ext cx="658276" cy="650809"/>
            </a:xfrm>
            <a:prstGeom prst="rect">
              <a:avLst/>
            </a:prstGeom>
          </p:spPr>
          <p:txBody>
            <a:bodyPr lIns="0" tIns="0" rIns="0" bIns="0" rtlCol="0" anchor="t">
              <a:spAutoFit/>
            </a:bodyPr>
            <a:lstStyle/>
            <a:p>
              <a:pPr marL="0" lvl="0" indent="0" algn="ctr">
                <a:lnSpc>
                  <a:spcPts val="3900"/>
                </a:lnSpc>
                <a:spcBef>
                  <a:spcPct val="0"/>
                </a:spcBef>
              </a:pPr>
              <a:r>
                <a:rPr lang="en-US" sz="3000" b="1" u="none" spc="303">
                  <a:solidFill>
                    <a:srgbClr val="2B2929"/>
                  </a:solidFill>
                  <a:latin typeface="Arimo Bold"/>
                  <a:ea typeface="Arimo Bold"/>
                  <a:cs typeface="Arimo Bold"/>
                  <a:sym typeface="Arimo Bold"/>
                </a:rPr>
                <a:t>3</a:t>
              </a:r>
            </a:p>
          </p:txBody>
        </p:sp>
      </p:grpSp>
      <p:grpSp>
        <p:nvGrpSpPr>
          <p:cNvPr id="12" name="Group 12"/>
          <p:cNvGrpSpPr/>
          <p:nvPr/>
        </p:nvGrpSpPr>
        <p:grpSpPr>
          <a:xfrm>
            <a:off x="12624930" y="7866426"/>
            <a:ext cx="840647" cy="840647"/>
            <a:chOff x="0" y="0"/>
            <a:chExt cx="1120863" cy="1120863"/>
          </a:xfrm>
        </p:grpSpPr>
        <p:sp>
          <p:nvSpPr>
            <p:cNvPr id="13" name="Freeform 13"/>
            <p:cNvSpPr/>
            <p:nvPr/>
          </p:nvSpPr>
          <p:spPr>
            <a:xfrm rot="-5400000">
              <a:off x="0" y="0"/>
              <a:ext cx="1120863" cy="1120863"/>
            </a:xfrm>
            <a:custGeom>
              <a:avLst/>
              <a:gdLst/>
              <a:ahLst/>
              <a:cxnLst/>
              <a:rect l="l" t="t" r="r" b="b"/>
              <a:pathLst>
                <a:path w="1120863" h="1120863">
                  <a:moveTo>
                    <a:pt x="0" y="0"/>
                  </a:moveTo>
                  <a:lnTo>
                    <a:pt x="1120863" y="0"/>
                  </a:lnTo>
                  <a:lnTo>
                    <a:pt x="1120863" y="1120863"/>
                  </a:lnTo>
                  <a:lnTo>
                    <a:pt x="0" y="11208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E"/>
            </a:p>
          </p:txBody>
        </p:sp>
        <p:sp>
          <p:nvSpPr>
            <p:cNvPr id="14" name="TextBox 14"/>
            <p:cNvSpPr txBox="1"/>
            <p:nvPr/>
          </p:nvSpPr>
          <p:spPr>
            <a:xfrm>
              <a:off x="231294" y="211215"/>
              <a:ext cx="658276" cy="650809"/>
            </a:xfrm>
            <a:prstGeom prst="rect">
              <a:avLst/>
            </a:prstGeom>
          </p:spPr>
          <p:txBody>
            <a:bodyPr lIns="0" tIns="0" rIns="0" bIns="0" rtlCol="0" anchor="t">
              <a:spAutoFit/>
            </a:bodyPr>
            <a:lstStyle/>
            <a:p>
              <a:pPr marL="0" lvl="0" indent="0" algn="ctr">
                <a:lnSpc>
                  <a:spcPts val="3900"/>
                </a:lnSpc>
                <a:spcBef>
                  <a:spcPct val="0"/>
                </a:spcBef>
              </a:pPr>
              <a:r>
                <a:rPr lang="en-US" sz="3000" b="1" u="none" spc="303">
                  <a:solidFill>
                    <a:srgbClr val="2B2929"/>
                  </a:solidFill>
                  <a:latin typeface="Arimo Bold"/>
                  <a:ea typeface="Arimo Bold"/>
                  <a:cs typeface="Arimo Bold"/>
                  <a:sym typeface="Arimo Bold"/>
                </a:rPr>
                <a:t>4</a:t>
              </a:r>
            </a:p>
          </p:txBody>
        </p:sp>
      </p:grpSp>
      <p:grpSp>
        <p:nvGrpSpPr>
          <p:cNvPr id="15" name="Group 15"/>
          <p:cNvGrpSpPr/>
          <p:nvPr/>
        </p:nvGrpSpPr>
        <p:grpSpPr>
          <a:xfrm>
            <a:off x="1028700" y="3566654"/>
            <a:ext cx="5654089" cy="5691646"/>
            <a:chOff x="20320" y="2540"/>
            <a:chExt cx="6309360" cy="6351270"/>
          </a:xfrm>
        </p:grpSpPr>
        <p:sp>
          <p:nvSpPr>
            <p:cNvPr id="16" name="Freeform 16"/>
            <p:cNvSpPr/>
            <p:nvPr/>
          </p:nvSpPr>
          <p:spPr>
            <a:xfrm>
              <a:off x="0" y="0"/>
              <a:ext cx="6309360" cy="6351270"/>
            </a:xfrm>
            <a:custGeom>
              <a:avLst/>
              <a:gdLst/>
              <a:ahLst/>
              <a:cxnLst/>
              <a:rect l="l" t="t" r="r" b="b"/>
              <a:pathLst>
                <a:path w="6309360" h="6351270">
                  <a:moveTo>
                    <a:pt x="6309360" y="4234180"/>
                  </a:moveTo>
                  <a:lnTo>
                    <a:pt x="6309360" y="6351270"/>
                  </a:lnTo>
                  <a:lnTo>
                    <a:pt x="0" y="6351270"/>
                  </a:lnTo>
                  <a:lnTo>
                    <a:pt x="0" y="0"/>
                  </a:lnTo>
                  <a:lnTo>
                    <a:pt x="2117090" y="0"/>
                  </a:lnTo>
                  <a:lnTo>
                    <a:pt x="2117090" y="2117090"/>
                  </a:lnTo>
                  <a:lnTo>
                    <a:pt x="4234180" y="2117090"/>
                  </a:lnTo>
                  <a:lnTo>
                    <a:pt x="4234180" y="4234180"/>
                  </a:lnTo>
                  <a:lnTo>
                    <a:pt x="6309360" y="423418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E" dirty="0"/>
            </a:p>
          </p:txBody>
        </p:sp>
      </p:grpSp>
      <p:sp>
        <p:nvSpPr>
          <p:cNvPr id="17" name="TextBox 17"/>
          <p:cNvSpPr txBox="1"/>
          <p:nvPr/>
        </p:nvSpPr>
        <p:spPr>
          <a:xfrm>
            <a:off x="1028700" y="1085850"/>
            <a:ext cx="7134152" cy="1556708"/>
          </a:xfrm>
          <a:prstGeom prst="rect">
            <a:avLst/>
          </a:prstGeom>
        </p:spPr>
        <p:txBody>
          <a:bodyPr wrap="square" lIns="0" tIns="0" rIns="0" bIns="0" rtlCol="0" anchor="t">
            <a:spAutoFit/>
          </a:bodyPr>
          <a:lstStyle/>
          <a:p>
            <a:pPr marL="0" lvl="0" indent="0" algn="l">
              <a:lnSpc>
                <a:spcPts val="14000"/>
              </a:lnSpc>
            </a:pPr>
            <a:r>
              <a:rPr lang="en-US" sz="7200" b="1" spc="-200" dirty="0">
                <a:solidFill>
                  <a:srgbClr val="2B2929"/>
                </a:solidFill>
                <a:latin typeface="Arimo Bold"/>
                <a:ea typeface="Arimo Bold"/>
                <a:cs typeface="Arimo Bold"/>
                <a:sym typeface="Arimo Bold"/>
              </a:rPr>
              <a:t>Weekly Timeline</a:t>
            </a:r>
          </a:p>
        </p:txBody>
      </p:sp>
      <p:sp>
        <p:nvSpPr>
          <p:cNvPr id="18" name="TextBox 18"/>
          <p:cNvSpPr txBox="1"/>
          <p:nvPr/>
        </p:nvSpPr>
        <p:spPr>
          <a:xfrm>
            <a:off x="8409705" y="1344930"/>
            <a:ext cx="3804426" cy="1713931"/>
          </a:xfrm>
          <a:prstGeom prst="rect">
            <a:avLst/>
          </a:prstGeom>
        </p:spPr>
        <p:txBody>
          <a:bodyPr wrap="square" lIns="0" tIns="0" rIns="0" bIns="0" rtlCol="0" anchor="t">
            <a:spAutoFit/>
          </a:bodyPr>
          <a:lstStyle/>
          <a:p>
            <a:pPr algn="r">
              <a:lnSpc>
                <a:spcPts val="3359"/>
              </a:lnSpc>
              <a:spcBef>
                <a:spcPct val="0"/>
              </a:spcBef>
            </a:pPr>
            <a:r>
              <a:rPr lang="en-US" sz="2400" dirty="0"/>
              <a:t>Robotic arm CAD model was finalized, including joint geometry, link dimensions, and end-effector integration</a:t>
            </a:r>
            <a:r>
              <a:rPr lang="en-US" sz="2399" dirty="0">
                <a:solidFill>
                  <a:srgbClr val="2B2929"/>
                </a:solidFill>
                <a:latin typeface="Arimo"/>
                <a:ea typeface="Arimo"/>
                <a:cs typeface="Arimo"/>
                <a:sym typeface="Arimo"/>
              </a:rPr>
              <a:t>.</a:t>
            </a:r>
          </a:p>
        </p:txBody>
      </p:sp>
      <p:sp>
        <p:nvSpPr>
          <p:cNvPr id="19" name="TextBox 19"/>
          <p:cNvSpPr txBox="1"/>
          <p:nvPr/>
        </p:nvSpPr>
        <p:spPr>
          <a:xfrm>
            <a:off x="13992382" y="3509504"/>
            <a:ext cx="3752691" cy="2585964"/>
          </a:xfrm>
          <a:prstGeom prst="rect">
            <a:avLst/>
          </a:prstGeom>
        </p:spPr>
        <p:txBody>
          <a:bodyPr wrap="square" lIns="0" tIns="0" rIns="0" bIns="0" rtlCol="0" anchor="t">
            <a:spAutoFit/>
          </a:bodyPr>
          <a:lstStyle/>
          <a:p>
            <a:pPr>
              <a:lnSpc>
                <a:spcPts val="3359"/>
              </a:lnSpc>
              <a:spcBef>
                <a:spcPct val="0"/>
              </a:spcBef>
            </a:pPr>
            <a:r>
              <a:rPr lang="en-US" sz="2400" dirty="0"/>
              <a:t>Vacuum gripper was integrated into the design and suction force calculations were performed to determine required compressor pressure</a:t>
            </a:r>
            <a:r>
              <a:rPr lang="en-US" sz="2399" dirty="0">
                <a:solidFill>
                  <a:srgbClr val="2B2929"/>
                </a:solidFill>
                <a:latin typeface="Arimo"/>
                <a:ea typeface="Arimo"/>
                <a:cs typeface="Arimo"/>
                <a:sym typeface="Arimo"/>
              </a:rPr>
              <a:t>.</a:t>
            </a:r>
          </a:p>
        </p:txBody>
      </p:sp>
      <p:sp>
        <p:nvSpPr>
          <p:cNvPr id="20" name="TextBox 20"/>
          <p:cNvSpPr txBox="1"/>
          <p:nvPr/>
        </p:nvSpPr>
        <p:spPr>
          <a:xfrm>
            <a:off x="13992382" y="7631430"/>
            <a:ext cx="3981291" cy="2149948"/>
          </a:xfrm>
          <a:prstGeom prst="rect">
            <a:avLst/>
          </a:prstGeom>
        </p:spPr>
        <p:txBody>
          <a:bodyPr wrap="square" lIns="0" tIns="0" rIns="0" bIns="0" rtlCol="0" anchor="t">
            <a:spAutoFit/>
          </a:bodyPr>
          <a:lstStyle/>
          <a:p>
            <a:pPr>
              <a:lnSpc>
                <a:spcPts val="3359"/>
              </a:lnSpc>
              <a:spcBef>
                <a:spcPct val="0"/>
              </a:spcBef>
            </a:pPr>
            <a:r>
              <a:rPr lang="en-US" sz="2400" dirty="0"/>
              <a:t>Full system model was converted into URDF and integrated into ROS2 MoveIt2 for motion planning and simulation with real geometry</a:t>
            </a:r>
            <a:r>
              <a:rPr lang="en-US" sz="2399" dirty="0">
                <a:solidFill>
                  <a:srgbClr val="2B2929"/>
                </a:solidFill>
                <a:latin typeface="Arimo"/>
                <a:ea typeface="Arimo"/>
                <a:cs typeface="Arimo"/>
                <a:sym typeface="Arimo"/>
              </a:rPr>
              <a:t>.</a:t>
            </a:r>
          </a:p>
        </p:txBody>
      </p:sp>
      <p:sp>
        <p:nvSpPr>
          <p:cNvPr id="21" name="TextBox 21"/>
          <p:cNvSpPr txBox="1"/>
          <p:nvPr/>
        </p:nvSpPr>
        <p:spPr>
          <a:xfrm>
            <a:off x="7324725" y="5535930"/>
            <a:ext cx="4631220" cy="1713931"/>
          </a:xfrm>
          <a:prstGeom prst="rect">
            <a:avLst/>
          </a:prstGeom>
        </p:spPr>
        <p:txBody>
          <a:bodyPr wrap="square" lIns="0" tIns="0" rIns="0" bIns="0" rtlCol="0" anchor="t">
            <a:spAutoFit/>
          </a:bodyPr>
          <a:lstStyle/>
          <a:p>
            <a:pPr algn="r">
              <a:lnSpc>
                <a:spcPts val="3359"/>
              </a:lnSpc>
              <a:spcBef>
                <a:spcPct val="0"/>
              </a:spcBef>
            </a:pPr>
            <a:r>
              <a:rPr lang="en-US" sz="2400" dirty="0"/>
              <a:t>Joint torque requirements were calculated based on arm geometry and payload, supporting motor sizing and actuator selection</a:t>
            </a:r>
            <a:r>
              <a:rPr lang="en-US" sz="2399" dirty="0">
                <a:solidFill>
                  <a:srgbClr val="2B2929"/>
                </a:solidFill>
                <a:latin typeface="Arimo"/>
                <a:ea typeface="Arimo"/>
                <a:cs typeface="Arimo"/>
                <a:sym typeface="Arimo"/>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6000944" cy="10287000"/>
          </a:xfrm>
          <a:prstGeom prst="rect">
            <a:avLst/>
          </a:prstGeom>
          <a:solidFill>
            <a:srgbClr val="92D050"/>
          </a:solidFill>
        </p:spPr>
        <p:txBody>
          <a:bodyPr/>
          <a:lstStyle/>
          <a:p>
            <a:endParaRPr lang="en-AE"/>
          </a:p>
        </p:txBody>
      </p:sp>
      <p:grpSp>
        <p:nvGrpSpPr>
          <p:cNvPr id="3" name="Group 3"/>
          <p:cNvGrpSpPr/>
          <p:nvPr/>
        </p:nvGrpSpPr>
        <p:grpSpPr>
          <a:xfrm>
            <a:off x="7084256" y="1161401"/>
            <a:ext cx="9975118" cy="3455677"/>
            <a:chOff x="0" y="0"/>
            <a:chExt cx="13300157" cy="4607568"/>
          </a:xfrm>
        </p:grpSpPr>
        <p:sp>
          <p:nvSpPr>
            <p:cNvPr id="4" name="TextBox 4"/>
            <p:cNvSpPr txBox="1"/>
            <p:nvPr/>
          </p:nvSpPr>
          <p:spPr>
            <a:xfrm>
              <a:off x="0" y="1159617"/>
              <a:ext cx="13300157" cy="3447951"/>
            </a:xfrm>
            <a:prstGeom prst="rect">
              <a:avLst/>
            </a:prstGeom>
          </p:spPr>
          <p:txBody>
            <a:bodyPr lIns="0" tIns="0" rIns="0" bIns="0" rtlCol="0" anchor="t">
              <a:spAutoFit/>
            </a:bodyPr>
            <a:lstStyle/>
            <a:p>
              <a:pPr marL="518160" lvl="1" indent="-259080">
                <a:lnSpc>
                  <a:spcPts val="3359"/>
                </a:lnSpc>
                <a:spcBef>
                  <a:spcPct val="0"/>
                </a:spcBef>
                <a:buFont typeface="Arial"/>
                <a:buChar char="•"/>
              </a:pPr>
              <a:r>
                <a:rPr lang="en-US" sz="2400" dirty="0"/>
                <a:t>Robotic arm CAD model was finalized, including joint geometry and link dimensions</a:t>
              </a:r>
              <a:r>
                <a:rPr lang="en-US" sz="2400" dirty="0">
                  <a:solidFill>
                    <a:srgbClr val="2B2929"/>
                  </a:solidFill>
                  <a:latin typeface="Arimo"/>
                  <a:ea typeface="Arimo"/>
                  <a:cs typeface="Arimo"/>
                  <a:sym typeface="Arimo"/>
                </a:rPr>
                <a:t>.</a:t>
              </a:r>
            </a:p>
            <a:p>
              <a:pPr marL="518160" lvl="1" indent="-259080">
                <a:lnSpc>
                  <a:spcPts val="3359"/>
                </a:lnSpc>
                <a:spcBef>
                  <a:spcPct val="0"/>
                </a:spcBef>
                <a:buFont typeface="Arial"/>
                <a:buChar char="•"/>
              </a:pPr>
              <a:r>
                <a:rPr lang="en-US" sz="2400" dirty="0"/>
                <a:t>Joint torque requirements were calculated based on arm configuration and payload</a:t>
              </a:r>
              <a:r>
                <a:rPr lang="en-US" sz="2400" dirty="0">
                  <a:solidFill>
                    <a:srgbClr val="2B2929"/>
                  </a:solidFill>
                  <a:latin typeface="Arimo"/>
                  <a:ea typeface="Arimo"/>
                  <a:cs typeface="Arimo"/>
                  <a:sym typeface="Arimo"/>
                </a:rPr>
                <a:t>.</a:t>
              </a:r>
            </a:p>
            <a:p>
              <a:pPr marL="518160" lvl="1" indent="-259080">
                <a:lnSpc>
                  <a:spcPts val="3359"/>
                </a:lnSpc>
                <a:spcBef>
                  <a:spcPct val="0"/>
                </a:spcBef>
                <a:buFont typeface="Arial"/>
                <a:buChar char="•"/>
              </a:pPr>
              <a:r>
                <a:rPr lang="en-US" sz="2400" dirty="0"/>
                <a:t>Vacuum gripper was integrated and suction force/pressure requirements were determined</a:t>
              </a:r>
              <a:endParaRPr lang="en-US" sz="2400" u="none" dirty="0">
                <a:solidFill>
                  <a:srgbClr val="2B2929"/>
                </a:solidFill>
                <a:latin typeface="Arimo"/>
                <a:ea typeface="Arimo"/>
                <a:cs typeface="Arimo"/>
                <a:sym typeface="Arimo"/>
              </a:endParaRPr>
            </a:p>
          </p:txBody>
        </p:sp>
        <p:grpSp>
          <p:nvGrpSpPr>
            <p:cNvPr id="5" name="Group 5"/>
            <p:cNvGrpSpPr/>
            <p:nvPr/>
          </p:nvGrpSpPr>
          <p:grpSpPr>
            <a:xfrm>
              <a:off x="0" y="0"/>
              <a:ext cx="4511494" cy="987154"/>
              <a:chOff x="0" y="0"/>
              <a:chExt cx="1658219" cy="406400"/>
            </a:xfrm>
          </p:grpSpPr>
          <p:sp>
            <p:nvSpPr>
              <p:cNvPr id="6" name="Freeform 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92D050"/>
              </a:solidFill>
            </p:spPr>
            <p:txBody>
              <a:bodyPr/>
              <a:lstStyle/>
              <a:p>
                <a:endParaRPr lang="en-AE"/>
              </a:p>
            </p:txBody>
          </p:sp>
        </p:grpSp>
        <p:sp>
          <p:nvSpPr>
            <p:cNvPr id="7" name="TextBox 7"/>
            <p:cNvSpPr txBox="1"/>
            <p:nvPr/>
          </p:nvSpPr>
          <p:spPr>
            <a:xfrm>
              <a:off x="626039" y="240635"/>
              <a:ext cx="3259415" cy="426508"/>
            </a:xfrm>
            <a:prstGeom prst="rect">
              <a:avLst/>
            </a:prstGeom>
          </p:spPr>
          <p:txBody>
            <a:bodyPr lIns="0" tIns="0" rIns="0" bIns="0" rtlCol="0" anchor="t">
              <a:spAutoFit/>
            </a:bodyPr>
            <a:lstStyle/>
            <a:p>
              <a:pPr marL="0" lvl="0" indent="0" algn="l">
                <a:lnSpc>
                  <a:spcPts val="2600"/>
                </a:lnSpc>
              </a:pPr>
              <a:r>
                <a:rPr lang="en-US" sz="2000" b="1" spc="-60" dirty="0">
                  <a:solidFill>
                    <a:srgbClr val="2B2929"/>
                  </a:solidFill>
                  <a:latin typeface="Arimo Bold"/>
                  <a:ea typeface="Arimo Bold"/>
                  <a:cs typeface="Arimo Bold"/>
                  <a:sym typeface="Arimo Bold"/>
                </a:rPr>
                <a:t>PROGRESS CHECK</a:t>
              </a:r>
            </a:p>
          </p:txBody>
        </p:sp>
      </p:grpSp>
      <p:grpSp>
        <p:nvGrpSpPr>
          <p:cNvPr id="8" name="Group 8"/>
          <p:cNvGrpSpPr/>
          <p:nvPr/>
        </p:nvGrpSpPr>
        <p:grpSpPr>
          <a:xfrm>
            <a:off x="7084256" y="4741917"/>
            <a:ext cx="9208853" cy="2150000"/>
            <a:chOff x="0" y="0"/>
            <a:chExt cx="12278470" cy="2866668"/>
          </a:xfrm>
        </p:grpSpPr>
        <p:sp>
          <p:nvSpPr>
            <p:cNvPr id="9" name="TextBox 9"/>
            <p:cNvSpPr txBox="1"/>
            <p:nvPr/>
          </p:nvSpPr>
          <p:spPr>
            <a:xfrm>
              <a:off x="0" y="1159618"/>
              <a:ext cx="12278470" cy="1707050"/>
            </a:xfrm>
            <a:prstGeom prst="rect">
              <a:avLst/>
            </a:prstGeom>
          </p:spPr>
          <p:txBody>
            <a:bodyPr lIns="0" tIns="0" rIns="0" bIns="0" rtlCol="0" anchor="t">
              <a:spAutoFit/>
            </a:bodyPr>
            <a:lstStyle/>
            <a:p>
              <a:pPr marL="518160" lvl="1" indent="-259080">
                <a:lnSpc>
                  <a:spcPts val="3359"/>
                </a:lnSpc>
                <a:spcBef>
                  <a:spcPct val="0"/>
                </a:spcBef>
                <a:buFont typeface="Arial"/>
                <a:buChar char="•"/>
              </a:pPr>
              <a:r>
                <a:rPr lang="en-US" sz="2400" dirty="0"/>
                <a:t>Verification of vacuum gripper performance under real operating conditions.</a:t>
              </a:r>
            </a:p>
            <a:p>
              <a:pPr marL="518160" lvl="1" indent="-259080">
                <a:lnSpc>
                  <a:spcPts val="3359"/>
                </a:lnSpc>
                <a:spcBef>
                  <a:spcPct val="0"/>
                </a:spcBef>
                <a:buFont typeface="Arial"/>
                <a:buChar char="•"/>
              </a:pPr>
              <a:r>
                <a:rPr lang="en-US" sz="2400" dirty="0"/>
                <a:t>Can’t test vacuum gripper in gazebo</a:t>
              </a:r>
            </a:p>
          </p:txBody>
        </p:sp>
        <p:grpSp>
          <p:nvGrpSpPr>
            <p:cNvPr id="10" name="Group 10"/>
            <p:cNvGrpSpPr/>
            <p:nvPr/>
          </p:nvGrpSpPr>
          <p:grpSpPr>
            <a:xfrm>
              <a:off x="0" y="0"/>
              <a:ext cx="4511494" cy="987154"/>
              <a:chOff x="0" y="0"/>
              <a:chExt cx="1658219" cy="406400"/>
            </a:xfrm>
          </p:grpSpPr>
          <p:sp>
            <p:nvSpPr>
              <p:cNvPr id="11" name="Freeform 11"/>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92D050"/>
              </a:solidFill>
            </p:spPr>
            <p:txBody>
              <a:bodyPr/>
              <a:lstStyle/>
              <a:p>
                <a:endParaRPr lang="en-AE" dirty="0"/>
              </a:p>
            </p:txBody>
          </p:sp>
        </p:grpSp>
        <p:sp>
          <p:nvSpPr>
            <p:cNvPr id="12" name="TextBox 12"/>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2B2929"/>
                  </a:solidFill>
                  <a:latin typeface="Arimo Bold"/>
                  <a:ea typeface="Arimo Bold"/>
                  <a:cs typeface="Arimo Bold"/>
                  <a:sym typeface="Arimo Bold"/>
                </a:rPr>
                <a:t>BLOCKERS</a:t>
              </a:r>
            </a:p>
          </p:txBody>
        </p:sp>
      </p:grpSp>
      <p:grpSp>
        <p:nvGrpSpPr>
          <p:cNvPr id="13" name="Group 13"/>
          <p:cNvGrpSpPr/>
          <p:nvPr/>
        </p:nvGrpSpPr>
        <p:grpSpPr>
          <a:xfrm>
            <a:off x="7084256" y="7097329"/>
            <a:ext cx="9975118" cy="1275593"/>
            <a:chOff x="0" y="0"/>
            <a:chExt cx="13300157" cy="1700790"/>
          </a:xfrm>
        </p:grpSpPr>
        <p:sp>
          <p:nvSpPr>
            <p:cNvPr id="14" name="TextBox 14"/>
            <p:cNvSpPr txBox="1"/>
            <p:nvPr/>
          </p:nvSpPr>
          <p:spPr>
            <a:xfrm>
              <a:off x="0" y="1159617"/>
              <a:ext cx="13300157" cy="541173"/>
            </a:xfrm>
            <a:prstGeom prst="rect">
              <a:avLst/>
            </a:prstGeom>
          </p:spPr>
          <p:txBody>
            <a:bodyPr lIns="0" tIns="0" rIns="0" bIns="0" rtlCol="0" anchor="t">
              <a:spAutoFit/>
            </a:bodyPr>
            <a:lstStyle/>
            <a:p>
              <a:pPr marL="518160" lvl="1" indent="-259080">
                <a:lnSpc>
                  <a:spcPts val="3359"/>
                </a:lnSpc>
                <a:spcBef>
                  <a:spcPct val="0"/>
                </a:spcBef>
                <a:buFont typeface="Arial"/>
                <a:buChar char="•"/>
              </a:pPr>
              <a:r>
                <a:rPr lang="en-US" sz="2400" dirty="0"/>
                <a:t>Validate gripper performance with physical testing or simulation</a:t>
              </a:r>
              <a:r>
                <a:rPr lang="en-US" sz="2400" dirty="0">
                  <a:solidFill>
                    <a:srgbClr val="2B2929"/>
                  </a:solidFill>
                  <a:latin typeface="Arimo"/>
                  <a:ea typeface="Arimo"/>
                  <a:cs typeface="Arimo"/>
                  <a:sym typeface="Arimo"/>
                </a:rPr>
                <a:t>.</a:t>
              </a:r>
              <a:endParaRPr lang="en-US" sz="2400" u="none" dirty="0">
                <a:solidFill>
                  <a:srgbClr val="2B2929"/>
                </a:solidFill>
                <a:latin typeface="Arimo"/>
                <a:ea typeface="Arimo"/>
                <a:cs typeface="Arimo"/>
                <a:sym typeface="Arimo"/>
              </a:endParaRPr>
            </a:p>
          </p:txBody>
        </p:sp>
        <p:grpSp>
          <p:nvGrpSpPr>
            <p:cNvPr id="15" name="Group 15"/>
            <p:cNvGrpSpPr/>
            <p:nvPr/>
          </p:nvGrpSpPr>
          <p:grpSpPr>
            <a:xfrm>
              <a:off x="0" y="0"/>
              <a:ext cx="4511494" cy="987154"/>
              <a:chOff x="0" y="0"/>
              <a:chExt cx="1658219" cy="406400"/>
            </a:xfrm>
          </p:grpSpPr>
          <p:sp>
            <p:nvSpPr>
              <p:cNvPr id="16" name="Freeform 1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92D050"/>
              </a:solidFill>
            </p:spPr>
            <p:txBody>
              <a:bodyPr/>
              <a:lstStyle/>
              <a:p>
                <a:endParaRPr lang="en-AE" dirty="0"/>
              </a:p>
            </p:txBody>
          </p:sp>
        </p:grpSp>
        <p:sp>
          <p:nvSpPr>
            <p:cNvPr id="17" name="TextBox 17"/>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2B2929"/>
                  </a:solidFill>
                  <a:latin typeface="Arimo Bold"/>
                  <a:ea typeface="Arimo Bold"/>
                  <a:cs typeface="Arimo Bold"/>
                  <a:sym typeface="Arimo Bold"/>
                </a:rPr>
                <a:t>ACTION ITEMS</a:t>
              </a:r>
            </a:p>
          </p:txBody>
        </p:sp>
      </p:grpSp>
      <p:grpSp>
        <p:nvGrpSpPr>
          <p:cNvPr id="18" name="Group 18"/>
          <p:cNvGrpSpPr/>
          <p:nvPr/>
        </p:nvGrpSpPr>
        <p:grpSpPr>
          <a:xfrm>
            <a:off x="668188" y="3512795"/>
            <a:ext cx="3925217" cy="835298"/>
            <a:chOff x="0" y="0"/>
            <a:chExt cx="5233623" cy="1113731"/>
          </a:xfrm>
        </p:grpSpPr>
        <p:grpSp>
          <p:nvGrpSpPr>
            <p:cNvPr id="19" name="Group 19"/>
            <p:cNvGrpSpPr/>
            <p:nvPr/>
          </p:nvGrpSpPr>
          <p:grpSpPr>
            <a:xfrm>
              <a:off x="0" y="0"/>
              <a:ext cx="5233623" cy="1113731"/>
              <a:chOff x="0" y="0"/>
              <a:chExt cx="1705015" cy="406400"/>
            </a:xfrm>
          </p:grpSpPr>
          <p:sp>
            <p:nvSpPr>
              <p:cNvPr id="20" name="Freeform 20"/>
              <p:cNvSpPr/>
              <p:nvPr/>
            </p:nvSpPr>
            <p:spPr>
              <a:xfrm>
                <a:off x="17780" y="22855"/>
                <a:ext cx="1679615" cy="317122"/>
              </a:xfrm>
              <a:custGeom>
                <a:avLst/>
                <a:gdLst/>
                <a:ahLst/>
                <a:cxnLst/>
                <a:rect l="l" t="t" r="r" b="b"/>
                <a:pathLst>
                  <a:path w="1679615" h="317122">
                    <a:moveTo>
                      <a:pt x="1679615" y="158561"/>
                    </a:moveTo>
                    <a:cubicBezTo>
                      <a:pt x="1679615" y="71464"/>
                      <a:pt x="1599606" y="0"/>
                      <a:pt x="1499275" y="0"/>
                    </a:cubicBezTo>
                    <a:lnTo>
                      <a:pt x="172720" y="0"/>
                    </a:lnTo>
                    <a:lnTo>
                      <a:pt x="172720" y="1117"/>
                    </a:lnTo>
                    <a:cubicBezTo>
                      <a:pt x="76200" y="4467"/>
                      <a:pt x="0" y="73698"/>
                      <a:pt x="0" y="158561"/>
                    </a:cubicBezTo>
                    <a:cubicBezTo>
                      <a:pt x="0" y="243425"/>
                      <a:pt x="77470" y="312656"/>
                      <a:pt x="172720" y="316006"/>
                    </a:cubicBezTo>
                    <a:lnTo>
                      <a:pt x="172720" y="317122"/>
                    </a:lnTo>
                    <a:lnTo>
                      <a:pt x="1499275" y="317122"/>
                    </a:lnTo>
                    <a:cubicBezTo>
                      <a:pt x="1598335" y="317122"/>
                      <a:pt x="1679615" y="245658"/>
                      <a:pt x="1679615" y="158561"/>
                    </a:cubicBezTo>
                    <a:close/>
                  </a:path>
                </a:pathLst>
              </a:custGeom>
              <a:solidFill>
                <a:srgbClr val="FFFFFF"/>
              </a:solidFill>
            </p:spPr>
            <p:txBody>
              <a:bodyPr/>
              <a:lstStyle/>
              <a:p>
                <a:endParaRPr lang="en-AE"/>
              </a:p>
            </p:txBody>
          </p:sp>
        </p:grpSp>
        <p:grpSp>
          <p:nvGrpSpPr>
            <p:cNvPr id="21" name="Group 21"/>
            <p:cNvGrpSpPr/>
            <p:nvPr/>
          </p:nvGrpSpPr>
          <p:grpSpPr>
            <a:xfrm>
              <a:off x="732336" y="312928"/>
              <a:ext cx="370938" cy="370938"/>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F945C"/>
              </a:solidFill>
            </p:spPr>
            <p:txBody>
              <a:bodyPr/>
              <a:lstStyle/>
              <a:p>
                <a:endParaRPr lang="en-AE"/>
              </a:p>
            </p:txBody>
          </p:sp>
        </p:grpSp>
        <p:sp>
          <p:nvSpPr>
            <p:cNvPr id="23" name="TextBox 23"/>
            <p:cNvSpPr txBox="1"/>
            <p:nvPr/>
          </p:nvSpPr>
          <p:spPr>
            <a:xfrm>
              <a:off x="1339844" y="284353"/>
              <a:ext cx="3196826" cy="426508"/>
            </a:xfrm>
            <a:prstGeom prst="rect">
              <a:avLst/>
            </a:prstGeom>
          </p:spPr>
          <p:txBody>
            <a:bodyPr lIns="0" tIns="0" rIns="0" bIns="0" rtlCol="0" anchor="t">
              <a:spAutoFit/>
            </a:bodyPr>
            <a:lstStyle/>
            <a:p>
              <a:pPr marL="0" lvl="0" indent="0" algn="l">
                <a:lnSpc>
                  <a:spcPts val="2600"/>
                </a:lnSpc>
              </a:pPr>
              <a:r>
                <a:rPr lang="en-US" sz="2000" b="1" spc="-60" dirty="0">
                  <a:solidFill>
                    <a:srgbClr val="2B2929"/>
                  </a:solidFill>
                  <a:latin typeface="Arimo Bold"/>
                  <a:ea typeface="Arimo Bold"/>
                  <a:cs typeface="Arimo Bold"/>
                  <a:sym typeface="Arimo Bold"/>
                </a:rPr>
                <a:t>Completed</a:t>
              </a:r>
            </a:p>
          </p:txBody>
        </p:sp>
      </p:grpSp>
      <p:grpSp>
        <p:nvGrpSpPr>
          <p:cNvPr id="24" name="Group 24"/>
          <p:cNvGrpSpPr/>
          <p:nvPr/>
        </p:nvGrpSpPr>
        <p:grpSpPr>
          <a:xfrm>
            <a:off x="972653" y="1054245"/>
            <a:ext cx="4055638" cy="2097656"/>
            <a:chOff x="0" y="-142875"/>
            <a:chExt cx="5407517" cy="2796873"/>
          </a:xfrm>
        </p:grpSpPr>
        <p:sp>
          <p:nvSpPr>
            <p:cNvPr id="25" name="TextBox 25"/>
            <p:cNvSpPr txBox="1"/>
            <p:nvPr/>
          </p:nvSpPr>
          <p:spPr>
            <a:xfrm>
              <a:off x="0" y="-142875"/>
              <a:ext cx="5407517" cy="1362075"/>
            </a:xfrm>
            <a:prstGeom prst="rect">
              <a:avLst/>
            </a:prstGeom>
          </p:spPr>
          <p:txBody>
            <a:bodyPr lIns="0" tIns="0" rIns="0" bIns="0" rtlCol="0" anchor="t">
              <a:spAutoFit/>
            </a:bodyPr>
            <a:lstStyle/>
            <a:p>
              <a:pPr marL="0" lvl="0" indent="0" algn="l">
                <a:lnSpc>
                  <a:spcPts val="8400"/>
                </a:lnSpc>
              </a:pPr>
              <a:r>
                <a:rPr lang="en-US" sz="6000" b="1" spc="-120">
                  <a:solidFill>
                    <a:srgbClr val="2B2929"/>
                  </a:solidFill>
                  <a:latin typeface="Arimo Bold"/>
                  <a:ea typeface="Arimo Bold"/>
                  <a:cs typeface="Arimo Bold"/>
                  <a:sym typeface="Arimo Bold"/>
                </a:rPr>
                <a:t>Goal # 1</a:t>
              </a:r>
            </a:p>
          </p:txBody>
        </p:sp>
        <p:sp>
          <p:nvSpPr>
            <p:cNvPr id="26" name="TextBox 26"/>
            <p:cNvSpPr txBox="1"/>
            <p:nvPr/>
          </p:nvSpPr>
          <p:spPr>
            <a:xfrm>
              <a:off x="0" y="1525484"/>
              <a:ext cx="5407517" cy="1128514"/>
            </a:xfrm>
            <a:prstGeom prst="rect">
              <a:avLst/>
            </a:prstGeom>
          </p:spPr>
          <p:txBody>
            <a:bodyPr lIns="0" tIns="0" rIns="0" bIns="0" rtlCol="0" anchor="t">
              <a:spAutoFit/>
            </a:bodyPr>
            <a:lstStyle/>
            <a:p>
              <a:pPr lvl="0">
                <a:lnSpc>
                  <a:spcPts val="3250"/>
                </a:lnSpc>
              </a:pPr>
              <a:r>
                <a:rPr lang="en-US" sz="2800" b="1" spc="-75" dirty="0">
                  <a:solidFill>
                    <a:srgbClr val="2B2929"/>
                  </a:solidFill>
                  <a:latin typeface="Arimo Bold"/>
                  <a:ea typeface="Arimo Bold"/>
                  <a:cs typeface="Arimo Bold"/>
                  <a:sym typeface="Arimo Bold"/>
                </a:rPr>
                <a:t>Mechanical &amp; Actuation Validation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6000944" cy="10287000"/>
          </a:xfrm>
          <a:prstGeom prst="rect">
            <a:avLst/>
          </a:prstGeom>
          <a:solidFill>
            <a:srgbClr val="DD5642"/>
          </a:solidFill>
        </p:spPr>
        <p:txBody>
          <a:bodyPr/>
          <a:lstStyle/>
          <a:p>
            <a:endParaRPr lang="en-AE"/>
          </a:p>
        </p:txBody>
      </p:sp>
      <p:grpSp>
        <p:nvGrpSpPr>
          <p:cNvPr id="3" name="Group 3"/>
          <p:cNvGrpSpPr/>
          <p:nvPr/>
        </p:nvGrpSpPr>
        <p:grpSpPr>
          <a:xfrm>
            <a:off x="7084256" y="1161401"/>
            <a:ext cx="9975118" cy="3019661"/>
            <a:chOff x="0" y="0"/>
            <a:chExt cx="13300157" cy="4026214"/>
          </a:xfrm>
        </p:grpSpPr>
        <p:sp>
          <p:nvSpPr>
            <p:cNvPr id="4" name="TextBox 4"/>
            <p:cNvSpPr txBox="1"/>
            <p:nvPr/>
          </p:nvSpPr>
          <p:spPr>
            <a:xfrm>
              <a:off x="0" y="1159617"/>
              <a:ext cx="13300157" cy="2866597"/>
            </a:xfrm>
            <a:prstGeom prst="rect">
              <a:avLst/>
            </a:prstGeom>
          </p:spPr>
          <p:txBody>
            <a:bodyPr lIns="0" tIns="0" rIns="0" bIns="0" rtlCol="0" anchor="t">
              <a:spAutoFit/>
            </a:bodyPr>
            <a:lstStyle/>
            <a:p>
              <a:pPr marL="518160" lvl="1" indent="-259080">
                <a:lnSpc>
                  <a:spcPts val="3359"/>
                </a:lnSpc>
                <a:buFont typeface="Arial"/>
                <a:buChar char="•"/>
              </a:pPr>
              <a:r>
                <a:rPr lang="en-US" sz="2400" dirty="0"/>
                <a:t>Vacuum gripper was integrated into the robotic arm end-effector design</a:t>
              </a:r>
              <a:r>
                <a:rPr lang="en-US" sz="2400" dirty="0">
                  <a:solidFill>
                    <a:srgbClr val="2B2929"/>
                  </a:solidFill>
                  <a:latin typeface="Arimo"/>
                  <a:ea typeface="Arimo"/>
                  <a:cs typeface="Arimo"/>
                  <a:sym typeface="Arimo"/>
                </a:rPr>
                <a:t>.</a:t>
              </a:r>
            </a:p>
            <a:p>
              <a:pPr marL="518160" lvl="1" indent="-259080">
                <a:lnSpc>
                  <a:spcPts val="3359"/>
                </a:lnSpc>
                <a:buFont typeface="Arial"/>
                <a:buChar char="•"/>
              </a:pPr>
              <a:r>
                <a:rPr lang="en-US" sz="2400" dirty="0"/>
                <a:t>Suction force calculations were performed based on object weight (ball/compass)</a:t>
              </a:r>
              <a:r>
                <a:rPr lang="en-US" sz="2400" dirty="0">
                  <a:solidFill>
                    <a:srgbClr val="2B2929"/>
                  </a:solidFill>
                  <a:latin typeface="Arimo"/>
                  <a:ea typeface="Arimo"/>
                  <a:cs typeface="Arimo"/>
                  <a:sym typeface="Arimo"/>
                </a:rPr>
                <a:t>.</a:t>
              </a:r>
            </a:p>
            <a:p>
              <a:pPr marL="518160" lvl="1" indent="-259080">
                <a:lnSpc>
                  <a:spcPts val="3359"/>
                </a:lnSpc>
                <a:spcBef>
                  <a:spcPct val="0"/>
                </a:spcBef>
                <a:buFont typeface="Arial"/>
                <a:buChar char="•"/>
              </a:pPr>
              <a:r>
                <a:rPr lang="en-US" sz="2400" dirty="0"/>
                <a:t>Required pressure range from the compressor was determined for reliable gripping</a:t>
              </a:r>
              <a:r>
                <a:rPr lang="en-US" sz="2400" dirty="0">
                  <a:solidFill>
                    <a:srgbClr val="2B2929"/>
                  </a:solidFill>
                  <a:latin typeface="Arimo"/>
                  <a:ea typeface="Arimo"/>
                  <a:cs typeface="Arimo"/>
                  <a:sym typeface="Arimo"/>
                </a:rPr>
                <a:t>.</a:t>
              </a:r>
            </a:p>
          </p:txBody>
        </p:sp>
        <p:grpSp>
          <p:nvGrpSpPr>
            <p:cNvPr id="5" name="Group 5"/>
            <p:cNvGrpSpPr/>
            <p:nvPr/>
          </p:nvGrpSpPr>
          <p:grpSpPr>
            <a:xfrm>
              <a:off x="0" y="0"/>
              <a:ext cx="4511494" cy="987154"/>
              <a:chOff x="0" y="0"/>
              <a:chExt cx="1658219" cy="406400"/>
            </a:xfrm>
          </p:grpSpPr>
          <p:sp>
            <p:nvSpPr>
              <p:cNvPr id="6" name="Freeform 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DD5642"/>
              </a:solidFill>
            </p:spPr>
            <p:txBody>
              <a:bodyPr/>
              <a:lstStyle/>
              <a:p>
                <a:endParaRPr lang="en-AE"/>
              </a:p>
            </p:txBody>
          </p:sp>
        </p:grpSp>
        <p:sp>
          <p:nvSpPr>
            <p:cNvPr id="7" name="TextBox 7"/>
            <p:cNvSpPr txBox="1"/>
            <p:nvPr/>
          </p:nvSpPr>
          <p:spPr>
            <a:xfrm>
              <a:off x="626039" y="2406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FFFFFF"/>
                  </a:solidFill>
                  <a:latin typeface="Arimo Bold"/>
                  <a:ea typeface="Arimo Bold"/>
                  <a:cs typeface="Arimo Bold"/>
                  <a:sym typeface="Arimo Bold"/>
                </a:rPr>
                <a:t>PROGRESS CHECK</a:t>
              </a:r>
            </a:p>
          </p:txBody>
        </p:sp>
      </p:grpSp>
      <p:grpSp>
        <p:nvGrpSpPr>
          <p:cNvPr id="8" name="Group 8"/>
          <p:cNvGrpSpPr/>
          <p:nvPr/>
        </p:nvGrpSpPr>
        <p:grpSpPr>
          <a:xfrm>
            <a:off x="7084256" y="4548465"/>
            <a:ext cx="9975118" cy="2138778"/>
            <a:chOff x="0" y="0"/>
            <a:chExt cx="13300157" cy="2851706"/>
          </a:xfrm>
        </p:grpSpPr>
        <p:sp>
          <p:nvSpPr>
            <p:cNvPr id="9" name="TextBox 9"/>
            <p:cNvSpPr txBox="1"/>
            <p:nvPr/>
          </p:nvSpPr>
          <p:spPr>
            <a:xfrm>
              <a:off x="0" y="1159618"/>
              <a:ext cx="13300157" cy="1692088"/>
            </a:xfrm>
            <a:prstGeom prst="rect">
              <a:avLst/>
            </a:prstGeom>
          </p:spPr>
          <p:txBody>
            <a:bodyPr lIns="0" tIns="0" rIns="0" bIns="0" rtlCol="0" anchor="t">
              <a:spAutoFit/>
            </a:bodyPr>
            <a:lstStyle/>
            <a:p>
              <a:pPr marL="518160" lvl="1" indent="-259080">
                <a:lnSpc>
                  <a:spcPts val="3359"/>
                </a:lnSpc>
                <a:spcBef>
                  <a:spcPct val="0"/>
                </a:spcBef>
                <a:buFont typeface="Arial"/>
                <a:buChar char="•"/>
              </a:pPr>
              <a:r>
                <a:rPr lang="en-US" sz="2400" dirty="0"/>
                <a:t>Final selection of compressor and vacuum components pending availability and system constraints</a:t>
              </a:r>
              <a:r>
                <a:rPr lang="en-US" sz="2400" dirty="0">
                  <a:solidFill>
                    <a:srgbClr val="2B2929"/>
                  </a:solidFill>
                  <a:latin typeface="Arimo"/>
                  <a:ea typeface="Arimo"/>
                  <a:cs typeface="Arimo"/>
                  <a:sym typeface="Arimo"/>
                </a:rPr>
                <a:t>.</a:t>
              </a:r>
            </a:p>
            <a:p>
              <a:pPr marL="518160" lvl="1" indent="-259080">
                <a:lnSpc>
                  <a:spcPts val="3359"/>
                </a:lnSpc>
                <a:spcBef>
                  <a:spcPct val="0"/>
                </a:spcBef>
                <a:buFont typeface="Arial"/>
                <a:buChar char="•"/>
              </a:pPr>
              <a:r>
                <a:rPr lang="en-US" sz="2400" dirty="0"/>
                <a:t>Physical validation of suction performance has not yet been conducted</a:t>
              </a:r>
              <a:endParaRPr lang="en-US" sz="2400" dirty="0">
                <a:solidFill>
                  <a:srgbClr val="2B2929"/>
                </a:solidFill>
                <a:latin typeface="Arimo"/>
                <a:ea typeface="Arimo"/>
                <a:cs typeface="Arimo"/>
                <a:sym typeface="Arimo"/>
              </a:endParaRPr>
            </a:p>
          </p:txBody>
        </p:sp>
        <p:grpSp>
          <p:nvGrpSpPr>
            <p:cNvPr id="10" name="Group 10"/>
            <p:cNvGrpSpPr/>
            <p:nvPr/>
          </p:nvGrpSpPr>
          <p:grpSpPr>
            <a:xfrm>
              <a:off x="0" y="0"/>
              <a:ext cx="4511494" cy="987154"/>
              <a:chOff x="0" y="0"/>
              <a:chExt cx="1658219" cy="406400"/>
            </a:xfrm>
          </p:grpSpPr>
          <p:sp>
            <p:nvSpPr>
              <p:cNvPr id="11" name="Freeform 11"/>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DD5642"/>
              </a:solidFill>
            </p:spPr>
            <p:txBody>
              <a:bodyPr/>
              <a:lstStyle/>
              <a:p>
                <a:endParaRPr lang="en-AE"/>
              </a:p>
            </p:txBody>
          </p:sp>
        </p:grpSp>
        <p:sp>
          <p:nvSpPr>
            <p:cNvPr id="12" name="TextBox 12"/>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FFFFFF"/>
                  </a:solidFill>
                  <a:latin typeface="Arimo Bold"/>
                  <a:ea typeface="Arimo Bold"/>
                  <a:cs typeface="Arimo Bold"/>
                  <a:sym typeface="Arimo Bold"/>
                </a:rPr>
                <a:t>BLOCKERS</a:t>
              </a:r>
            </a:p>
          </p:txBody>
        </p:sp>
      </p:grpSp>
      <p:grpSp>
        <p:nvGrpSpPr>
          <p:cNvPr id="13" name="Group 13"/>
          <p:cNvGrpSpPr/>
          <p:nvPr/>
        </p:nvGrpSpPr>
        <p:grpSpPr>
          <a:xfrm>
            <a:off x="7084256" y="7097329"/>
            <a:ext cx="9975118" cy="1711610"/>
            <a:chOff x="0" y="0"/>
            <a:chExt cx="13300157" cy="2282146"/>
          </a:xfrm>
        </p:grpSpPr>
        <p:sp>
          <p:nvSpPr>
            <p:cNvPr id="14" name="TextBox 14"/>
            <p:cNvSpPr txBox="1"/>
            <p:nvPr/>
          </p:nvSpPr>
          <p:spPr>
            <a:xfrm>
              <a:off x="0" y="1159617"/>
              <a:ext cx="13300157" cy="1122529"/>
            </a:xfrm>
            <a:prstGeom prst="rect">
              <a:avLst/>
            </a:prstGeom>
          </p:spPr>
          <p:txBody>
            <a:bodyPr lIns="0" tIns="0" rIns="0" bIns="0" rtlCol="0" anchor="t">
              <a:spAutoFit/>
            </a:bodyPr>
            <a:lstStyle/>
            <a:p>
              <a:pPr marL="518160" lvl="1" indent="-259080">
                <a:lnSpc>
                  <a:spcPts val="3359"/>
                </a:lnSpc>
                <a:buFont typeface="Arial"/>
                <a:buChar char="•"/>
              </a:pPr>
              <a:r>
                <a:rPr lang="en-US" sz="2400" dirty="0"/>
                <a:t>Finalize vacuum pump/compressor selection based on required pressure and flow rate</a:t>
              </a:r>
              <a:r>
                <a:rPr lang="en-US" sz="2400" dirty="0">
                  <a:solidFill>
                    <a:srgbClr val="2B2929"/>
                  </a:solidFill>
                  <a:latin typeface="Arimo"/>
                  <a:ea typeface="Arimo"/>
                  <a:cs typeface="Arimo"/>
                  <a:sym typeface="Arimo"/>
                </a:rPr>
                <a:t>.</a:t>
              </a:r>
            </a:p>
          </p:txBody>
        </p:sp>
        <p:grpSp>
          <p:nvGrpSpPr>
            <p:cNvPr id="15" name="Group 15"/>
            <p:cNvGrpSpPr/>
            <p:nvPr/>
          </p:nvGrpSpPr>
          <p:grpSpPr>
            <a:xfrm>
              <a:off x="0" y="0"/>
              <a:ext cx="4511494" cy="987154"/>
              <a:chOff x="0" y="0"/>
              <a:chExt cx="1658219" cy="406400"/>
            </a:xfrm>
          </p:grpSpPr>
          <p:sp>
            <p:nvSpPr>
              <p:cNvPr id="16" name="Freeform 1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DD5642"/>
              </a:solidFill>
            </p:spPr>
            <p:txBody>
              <a:bodyPr/>
              <a:lstStyle/>
              <a:p>
                <a:endParaRPr lang="en-AE"/>
              </a:p>
            </p:txBody>
          </p:sp>
        </p:grpSp>
        <p:sp>
          <p:nvSpPr>
            <p:cNvPr id="17" name="TextBox 17"/>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FFFFFF"/>
                  </a:solidFill>
                  <a:latin typeface="Arimo Bold"/>
                  <a:ea typeface="Arimo Bold"/>
                  <a:cs typeface="Arimo Bold"/>
                  <a:sym typeface="Arimo Bold"/>
                </a:rPr>
                <a:t>ACTION ITEMS</a:t>
              </a:r>
            </a:p>
          </p:txBody>
        </p:sp>
      </p:grpSp>
      <p:grpSp>
        <p:nvGrpSpPr>
          <p:cNvPr id="18" name="Group 18"/>
          <p:cNvGrpSpPr/>
          <p:nvPr/>
        </p:nvGrpSpPr>
        <p:grpSpPr>
          <a:xfrm>
            <a:off x="668188" y="3512795"/>
            <a:ext cx="3925217" cy="835298"/>
            <a:chOff x="0" y="0"/>
            <a:chExt cx="5233623" cy="1113731"/>
          </a:xfrm>
        </p:grpSpPr>
        <p:grpSp>
          <p:nvGrpSpPr>
            <p:cNvPr id="19" name="Group 19"/>
            <p:cNvGrpSpPr/>
            <p:nvPr/>
          </p:nvGrpSpPr>
          <p:grpSpPr>
            <a:xfrm>
              <a:off x="0" y="0"/>
              <a:ext cx="5233623" cy="1113731"/>
              <a:chOff x="0" y="0"/>
              <a:chExt cx="1705015" cy="406400"/>
            </a:xfrm>
          </p:grpSpPr>
          <p:sp>
            <p:nvSpPr>
              <p:cNvPr id="20" name="Freeform 20"/>
              <p:cNvSpPr/>
              <p:nvPr/>
            </p:nvSpPr>
            <p:spPr>
              <a:xfrm>
                <a:off x="17780" y="22855"/>
                <a:ext cx="1679615" cy="317122"/>
              </a:xfrm>
              <a:custGeom>
                <a:avLst/>
                <a:gdLst/>
                <a:ahLst/>
                <a:cxnLst/>
                <a:rect l="l" t="t" r="r" b="b"/>
                <a:pathLst>
                  <a:path w="1679615" h="317122">
                    <a:moveTo>
                      <a:pt x="1679615" y="158561"/>
                    </a:moveTo>
                    <a:cubicBezTo>
                      <a:pt x="1679615" y="71464"/>
                      <a:pt x="1599606" y="0"/>
                      <a:pt x="1499275" y="0"/>
                    </a:cubicBezTo>
                    <a:lnTo>
                      <a:pt x="172720" y="0"/>
                    </a:lnTo>
                    <a:lnTo>
                      <a:pt x="172720" y="1117"/>
                    </a:lnTo>
                    <a:cubicBezTo>
                      <a:pt x="76200" y="4467"/>
                      <a:pt x="0" y="73698"/>
                      <a:pt x="0" y="158561"/>
                    </a:cubicBezTo>
                    <a:cubicBezTo>
                      <a:pt x="0" y="243425"/>
                      <a:pt x="77470" y="312656"/>
                      <a:pt x="172720" y="316006"/>
                    </a:cubicBezTo>
                    <a:lnTo>
                      <a:pt x="172720" y="317122"/>
                    </a:lnTo>
                    <a:lnTo>
                      <a:pt x="1499275" y="317122"/>
                    </a:lnTo>
                    <a:cubicBezTo>
                      <a:pt x="1598335" y="317122"/>
                      <a:pt x="1679615" y="245658"/>
                      <a:pt x="1679615" y="158561"/>
                    </a:cubicBezTo>
                    <a:close/>
                  </a:path>
                </a:pathLst>
              </a:custGeom>
              <a:solidFill>
                <a:srgbClr val="FFFFFF"/>
              </a:solidFill>
            </p:spPr>
            <p:txBody>
              <a:bodyPr/>
              <a:lstStyle/>
              <a:p>
                <a:endParaRPr lang="en-AE"/>
              </a:p>
            </p:txBody>
          </p:sp>
        </p:grpSp>
        <p:grpSp>
          <p:nvGrpSpPr>
            <p:cNvPr id="21" name="Group 21"/>
            <p:cNvGrpSpPr/>
            <p:nvPr/>
          </p:nvGrpSpPr>
          <p:grpSpPr>
            <a:xfrm>
              <a:off x="732336" y="312928"/>
              <a:ext cx="370938" cy="370938"/>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0000"/>
              </a:solidFill>
            </p:spPr>
            <p:txBody>
              <a:bodyPr/>
              <a:lstStyle/>
              <a:p>
                <a:endParaRPr lang="en-AE" dirty="0">
                  <a:solidFill>
                    <a:srgbClr val="FF0000"/>
                  </a:solidFill>
                </a:endParaRPr>
              </a:p>
            </p:txBody>
          </p:sp>
        </p:grpSp>
        <p:sp>
          <p:nvSpPr>
            <p:cNvPr id="23" name="TextBox 23"/>
            <p:cNvSpPr txBox="1"/>
            <p:nvPr/>
          </p:nvSpPr>
          <p:spPr>
            <a:xfrm>
              <a:off x="1339844" y="284353"/>
              <a:ext cx="3196825" cy="426508"/>
            </a:xfrm>
            <a:prstGeom prst="rect">
              <a:avLst/>
            </a:prstGeom>
          </p:spPr>
          <p:txBody>
            <a:bodyPr lIns="0" tIns="0" rIns="0" bIns="0" rtlCol="0" anchor="t">
              <a:spAutoFit/>
            </a:bodyPr>
            <a:lstStyle/>
            <a:p>
              <a:pPr marL="0" lvl="0" indent="0" algn="l">
                <a:lnSpc>
                  <a:spcPts val="2600"/>
                </a:lnSpc>
              </a:pPr>
              <a:r>
                <a:rPr lang="en-US" sz="2000" b="1" spc="-60" dirty="0">
                  <a:solidFill>
                    <a:srgbClr val="2B2929"/>
                  </a:solidFill>
                  <a:latin typeface="Arimo Bold"/>
                  <a:ea typeface="Arimo Bold"/>
                  <a:cs typeface="Arimo Bold"/>
                  <a:sym typeface="Arimo Bold"/>
                </a:rPr>
                <a:t>In progress</a:t>
              </a:r>
            </a:p>
          </p:txBody>
        </p:sp>
      </p:grpSp>
      <p:grpSp>
        <p:nvGrpSpPr>
          <p:cNvPr id="24" name="Group 24"/>
          <p:cNvGrpSpPr/>
          <p:nvPr/>
        </p:nvGrpSpPr>
        <p:grpSpPr>
          <a:xfrm>
            <a:off x="972653" y="1054245"/>
            <a:ext cx="4055638" cy="1641699"/>
            <a:chOff x="0" y="-142875"/>
            <a:chExt cx="5407517" cy="2188931"/>
          </a:xfrm>
        </p:grpSpPr>
        <p:sp>
          <p:nvSpPr>
            <p:cNvPr id="25" name="TextBox 25"/>
            <p:cNvSpPr txBox="1"/>
            <p:nvPr/>
          </p:nvSpPr>
          <p:spPr>
            <a:xfrm>
              <a:off x="0" y="-142875"/>
              <a:ext cx="5407517" cy="1362075"/>
            </a:xfrm>
            <a:prstGeom prst="rect">
              <a:avLst/>
            </a:prstGeom>
          </p:spPr>
          <p:txBody>
            <a:bodyPr lIns="0" tIns="0" rIns="0" bIns="0" rtlCol="0" anchor="t">
              <a:spAutoFit/>
            </a:bodyPr>
            <a:lstStyle/>
            <a:p>
              <a:pPr marL="0" lvl="0" indent="0" algn="l">
                <a:lnSpc>
                  <a:spcPts val="8400"/>
                </a:lnSpc>
              </a:pPr>
              <a:r>
                <a:rPr lang="en-US" sz="6000" b="1" spc="-120">
                  <a:solidFill>
                    <a:srgbClr val="FFFFFF"/>
                  </a:solidFill>
                  <a:latin typeface="Arimo Bold"/>
                  <a:ea typeface="Arimo Bold"/>
                  <a:cs typeface="Arimo Bold"/>
                  <a:sym typeface="Arimo Bold"/>
                </a:rPr>
                <a:t>Goal # 2</a:t>
              </a:r>
            </a:p>
          </p:txBody>
        </p:sp>
        <p:sp>
          <p:nvSpPr>
            <p:cNvPr id="26" name="TextBox 26"/>
            <p:cNvSpPr txBox="1"/>
            <p:nvPr/>
          </p:nvSpPr>
          <p:spPr>
            <a:xfrm>
              <a:off x="0" y="1525486"/>
              <a:ext cx="5407517" cy="520570"/>
            </a:xfrm>
            <a:prstGeom prst="rect">
              <a:avLst/>
            </a:prstGeom>
          </p:spPr>
          <p:txBody>
            <a:bodyPr lIns="0" tIns="0" rIns="0" bIns="0" rtlCol="0" anchor="t">
              <a:spAutoFit/>
            </a:bodyPr>
            <a:lstStyle/>
            <a:p>
              <a:pPr lvl="0">
                <a:lnSpc>
                  <a:spcPts val="3250"/>
                </a:lnSpc>
              </a:pPr>
              <a:r>
                <a:rPr lang="en-US" sz="2500" b="1" spc="-75" dirty="0">
                  <a:solidFill>
                    <a:srgbClr val="FFFFFF"/>
                  </a:solidFill>
                  <a:latin typeface="Arimo Bold"/>
                  <a:ea typeface="Arimo Bold"/>
                  <a:cs typeface="Arimo Bold"/>
                  <a:sym typeface="Arimo Bold"/>
                </a:rPr>
                <a:t>Pneumatic Gripper System</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6000944" cy="10287000"/>
          </a:xfrm>
          <a:prstGeom prst="rect">
            <a:avLst/>
          </a:prstGeom>
          <a:solidFill>
            <a:srgbClr val="FFCB12"/>
          </a:solidFill>
        </p:spPr>
        <p:txBody>
          <a:bodyPr/>
          <a:lstStyle/>
          <a:p>
            <a:endParaRPr lang="en-AE"/>
          </a:p>
        </p:txBody>
      </p:sp>
      <p:grpSp>
        <p:nvGrpSpPr>
          <p:cNvPr id="3" name="Group 3"/>
          <p:cNvGrpSpPr/>
          <p:nvPr/>
        </p:nvGrpSpPr>
        <p:grpSpPr>
          <a:xfrm>
            <a:off x="7084256" y="1161401"/>
            <a:ext cx="9975118" cy="2583644"/>
            <a:chOff x="0" y="0"/>
            <a:chExt cx="13300157" cy="3444858"/>
          </a:xfrm>
        </p:grpSpPr>
        <p:sp>
          <p:nvSpPr>
            <p:cNvPr id="4" name="TextBox 4"/>
            <p:cNvSpPr txBox="1"/>
            <p:nvPr/>
          </p:nvSpPr>
          <p:spPr>
            <a:xfrm>
              <a:off x="0" y="1159617"/>
              <a:ext cx="13300157" cy="2285241"/>
            </a:xfrm>
            <a:prstGeom prst="rect">
              <a:avLst/>
            </a:prstGeom>
          </p:spPr>
          <p:txBody>
            <a:bodyPr lIns="0" tIns="0" rIns="0" bIns="0" rtlCol="0" anchor="t">
              <a:spAutoFit/>
            </a:bodyPr>
            <a:lstStyle/>
            <a:p>
              <a:pPr marL="518160" lvl="1" indent="-259080">
                <a:lnSpc>
                  <a:spcPts val="3359"/>
                </a:lnSpc>
                <a:buFont typeface="Arial"/>
                <a:buChar char="•"/>
              </a:pPr>
              <a:r>
                <a:rPr lang="en-US" sz="2400" dirty="0"/>
                <a:t>Developed an initial ball tracking algorithm to detect and follow the target object, enabling autonomous positioning of the robotic arm</a:t>
              </a:r>
              <a:r>
                <a:rPr lang="en-US" sz="2400" dirty="0">
                  <a:solidFill>
                    <a:srgbClr val="2B2929"/>
                  </a:solidFill>
                  <a:latin typeface="Arimo"/>
                  <a:ea typeface="Arimo"/>
                  <a:cs typeface="Arimo"/>
                  <a:sym typeface="Arimo"/>
                </a:rPr>
                <a:t>.</a:t>
              </a:r>
            </a:p>
            <a:p>
              <a:pPr marL="518160" lvl="1" indent="-259080">
                <a:lnSpc>
                  <a:spcPts val="3359"/>
                </a:lnSpc>
                <a:buFont typeface="Arial"/>
                <a:buChar char="•"/>
              </a:pPr>
              <a:r>
                <a:rPr lang="en-US" sz="2400" dirty="0"/>
                <a:t>This tracking approach supports full 4-DOF operation by guiding the end-effector toward the object location</a:t>
              </a:r>
              <a:r>
                <a:rPr lang="en-US" sz="2400" dirty="0">
                  <a:solidFill>
                    <a:srgbClr val="2B2929"/>
                  </a:solidFill>
                  <a:latin typeface="Arimo"/>
                  <a:ea typeface="Arimo"/>
                  <a:cs typeface="Arimo"/>
                  <a:sym typeface="Arimo"/>
                </a:rPr>
                <a:t>.</a:t>
              </a:r>
            </a:p>
          </p:txBody>
        </p:sp>
        <p:grpSp>
          <p:nvGrpSpPr>
            <p:cNvPr id="5" name="Group 5"/>
            <p:cNvGrpSpPr/>
            <p:nvPr/>
          </p:nvGrpSpPr>
          <p:grpSpPr>
            <a:xfrm>
              <a:off x="0" y="0"/>
              <a:ext cx="4511494" cy="987154"/>
              <a:chOff x="0" y="0"/>
              <a:chExt cx="1658219" cy="406400"/>
            </a:xfrm>
          </p:grpSpPr>
          <p:sp>
            <p:nvSpPr>
              <p:cNvPr id="6" name="Freeform 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FFCB12"/>
              </a:solidFill>
            </p:spPr>
            <p:txBody>
              <a:bodyPr/>
              <a:lstStyle/>
              <a:p>
                <a:endParaRPr lang="en-AE"/>
              </a:p>
            </p:txBody>
          </p:sp>
        </p:grpSp>
        <p:sp>
          <p:nvSpPr>
            <p:cNvPr id="7" name="TextBox 7"/>
            <p:cNvSpPr txBox="1"/>
            <p:nvPr/>
          </p:nvSpPr>
          <p:spPr>
            <a:xfrm>
              <a:off x="626039" y="2406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2B2929"/>
                  </a:solidFill>
                  <a:latin typeface="Arimo Bold"/>
                  <a:ea typeface="Arimo Bold"/>
                  <a:cs typeface="Arimo Bold"/>
                  <a:sym typeface="Arimo Bold"/>
                </a:rPr>
                <a:t>PROGRESS CHECK</a:t>
              </a:r>
            </a:p>
          </p:txBody>
        </p:sp>
      </p:grpSp>
      <p:grpSp>
        <p:nvGrpSpPr>
          <p:cNvPr id="8" name="Group 8"/>
          <p:cNvGrpSpPr/>
          <p:nvPr/>
        </p:nvGrpSpPr>
        <p:grpSpPr>
          <a:xfrm>
            <a:off x="7084256" y="4316373"/>
            <a:ext cx="9975118" cy="1711610"/>
            <a:chOff x="0" y="0"/>
            <a:chExt cx="13300157" cy="2282148"/>
          </a:xfrm>
        </p:grpSpPr>
        <p:sp>
          <p:nvSpPr>
            <p:cNvPr id="9" name="TextBox 9"/>
            <p:cNvSpPr txBox="1"/>
            <p:nvPr/>
          </p:nvSpPr>
          <p:spPr>
            <a:xfrm>
              <a:off x="0" y="1159618"/>
              <a:ext cx="13300157" cy="1122530"/>
            </a:xfrm>
            <a:prstGeom prst="rect">
              <a:avLst/>
            </a:prstGeom>
          </p:spPr>
          <p:txBody>
            <a:bodyPr lIns="0" tIns="0" rIns="0" bIns="0" rtlCol="0" anchor="t">
              <a:spAutoFit/>
            </a:bodyPr>
            <a:lstStyle/>
            <a:p>
              <a:pPr marL="518160" lvl="1" indent="-259080">
                <a:lnSpc>
                  <a:spcPts val="3359"/>
                </a:lnSpc>
                <a:spcBef>
                  <a:spcPct val="0"/>
                </a:spcBef>
                <a:buFont typeface="Arial"/>
                <a:buChar char="•"/>
              </a:pPr>
              <a:r>
                <a:rPr lang="en-US" sz="2400" dirty="0"/>
                <a:t>Real-time performance and accuracy of object tracking not yet validated on hardware</a:t>
              </a:r>
              <a:r>
                <a:rPr lang="en-US" sz="2400" dirty="0">
                  <a:solidFill>
                    <a:srgbClr val="2B2929"/>
                  </a:solidFill>
                  <a:latin typeface="Arimo"/>
                  <a:ea typeface="Arimo"/>
                  <a:cs typeface="Arimo"/>
                  <a:sym typeface="Arimo"/>
                </a:rPr>
                <a:t>.</a:t>
              </a:r>
            </a:p>
          </p:txBody>
        </p:sp>
        <p:grpSp>
          <p:nvGrpSpPr>
            <p:cNvPr id="10" name="Group 10"/>
            <p:cNvGrpSpPr/>
            <p:nvPr/>
          </p:nvGrpSpPr>
          <p:grpSpPr>
            <a:xfrm>
              <a:off x="0" y="0"/>
              <a:ext cx="4511494" cy="987154"/>
              <a:chOff x="0" y="0"/>
              <a:chExt cx="1658219" cy="406400"/>
            </a:xfrm>
          </p:grpSpPr>
          <p:sp>
            <p:nvSpPr>
              <p:cNvPr id="11" name="Freeform 11"/>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FFCB12"/>
              </a:solidFill>
            </p:spPr>
            <p:txBody>
              <a:bodyPr/>
              <a:lstStyle/>
              <a:p>
                <a:endParaRPr lang="en-AE"/>
              </a:p>
            </p:txBody>
          </p:sp>
        </p:grpSp>
        <p:sp>
          <p:nvSpPr>
            <p:cNvPr id="12" name="TextBox 12"/>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2B2929"/>
                  </a:solidFill>
                  <a:latin typeface="Arimo Bold"/>
                  <a:ea typeface="Arimo Bold"/>
                  <a:cs typeface="Arimo Bold"/>
                  <a:sym typeface="Arimo Bold"/>
                </a:rPr>
                <a:t>BLOCKERS</a:t>
              </a:r>
            </a:p>
          </p:txBody>
        </p:sp>
      </p:grpSp>
      <p:grpSp>
        <p:nvGrpSpPr>
          <p:cNvPr id="13" name="Group 13"/>
          <p:cNvGrpSpPr/>
          <p:nvPr/>
        </p:nvGrpSpPr>
        <p:grpSpPr>
          <a:xfrm>
            <a:off x="7084256" y="7071294"/>
            <a:ext cx="9975118" cy="2138778"/>
            <a:chOff x="0" y="0"/>
            <a:chExt cx="13300157" cy="2851704"/>
          </a:xfrm>
        </p:grpSpPr>
        <p:sp>
          <p:nvSpPr>
            <p:cNvPr id="14" name="TextBox 14"/>
            <p:cNvSpPr txBox="1"/>
            <p:nvPr/>
          </p:nvSpPr>
          <p:spPr>
            <a:xfrm>
              <a:off x="0" y="1159617"/>
              <a:ext cx="13300157" cy="1692087"/>
            </a:xfrm>
            <a:prstGeom prst="rect">
              <a:avLst/>
            </a:prstGeom>
          </p:spPr>
          <p:txBody>
            <a:bodyPr lIns="0" tIns="0" rIns="0" bIns="0" rtlCol="0" anchor="t">
              <a:spAutoFit/>
            </a:bodyPr>
            <a:lstStyle/>
            <a:p>
              <a:pPr marL="518160" lvl="1" indent="-259080">
                <a:lnSpc>
                  <a:spcPts val="3359"/>
                </a:lnSpc>
                <a:buFont typeface="Arial"/>
                <a:buChar char="•"/>
              </a:pPr>
              <a:r>
                <a:rPr lang="en-US" sz="2400" dirty="0"/>
                <a:t>Complete ball tracking implementation and link it with ROS2 control</a:t>
              </a:r>
              <a:r>
                <a:rPr lang="en-US" sz="2400" dirty="0">
                  <a:solidFill>
                    <a:srgbClr val="2B2929"/>
                  </a:solidFill>
                  <a:latin typeface="Arimo"/>
                  <a:ea typeface="Arimo"/>
                  <a:cs typeface="Arimo"/>
                  <a:sym typeface="Arimo"/>
                </a:rPr>
                <a:t>.</a:t>
              </a:r>
            </a:p>
            <a:p>
              <a:pPr marL="518160" lvl="1" indent="-259080">
                <a:lnSpc>
                  <a:spcPts val="3359"/>
                </a:lnSpc>
                <a:buFont typeface="Arial"/>
                <a:buChar char="•"/>
              </a:pPr>
              <a:r>
                <a:rPr lang="en-US" sz="2400" dirty="0"/>
                <a:t>Integrate vision feedback with MoveIt2 for autonomous motion execution</a:t>
              </a:r>
              <a:r>
                <a:rPr lang="en-US" sz="2400" dirty="0">
                  <a:solidFill>
                    <a:srgbClr val="2B2929"/>
                  </a:solidFill>
                  <a:latin typeface="Arimo"/>
                  <a:ea typeface="Arimo"/>
                  <a:cs typeface="Arimo"/>
                  <a:sym typeface="Arimo"/>
                </a:rPr>
                <a:t>.</a:t>
              </a:r>
            </a:p>
            <a:p>
              <a:pPr marL="518160" lvl="1" indent="-259080">
                <a:lnSpc>
                  <a:spcPts val="3359"/>
                </a:lnSpc>
                <a:spcBef>
                  <a:spcPct val="0"/>
                </a:spcBef>
                <a:buFont typeface="Arial"/>
                <a:buChar char="•"/>
              </a:pPr>
              <a:r>
                <a:rPr lang="en-US" sz="2400" dirty="0"/>
                <a:t>Perform calibration and testing using the selected depth camera</a:t>
              </a:r>
              <a:r>
                <a:rPr lang="en-US" sz="2400" dirty="0">
                  <a:solidFill>
                    <a:srgbClr val="2B2929"/>
                  </a:solidFill>
                  <a:latin typeface="Arimo"/>
                  <a:ea typeface="Arimo"/>
                  <a:cs typeface="Arimo"/>
                  <a:sym typeface="Arimo"/>
                </a:rPr>
                <a:t>.</a:t>
              </a:r>
            </a:p>
          </p:txBody>
        </p:sp>
        <p:grpSp>
          <p:nvGrpSpPr>
            <p:cNvPr id="15" name="Group 15"/>
            <p:cNvGrpSpPr/>
            <p:nvPr/>
          </p:nvGrpSpPr>
          <p:grpSpPr>
            <a:xfrm>
              <a:off x="0" y="0"/>
              <a:ext cx="4511494" cy="987154"/>
              <a:chOff x="0" y="0"/>
              <a:chExt cx="1658219" cy="406400"/>
            </a:xfrm>
          </p:grpSpPr>
          <p:sp>
            <p:nvSpPr>
              <p:cNvPr id="16" name="Freeform 16"/>
              <p:cNvSpPr/>
              <p:nvPr/>
            </p:nvSpPr>
            <p:spPr>
              <a:xfrm>
                <a:off x="17780" y="22855"/>
                <a:ext cx="1632819" cy="317122"/>
              </a:xfrm>
              <a:custGeom>
                <a:avLst/>
                <a:gdLst/>
                <a:ahLst/>
                <a:cxnLst/>
                <a:rect l="l" t="t" r="r" b="b"/>
                <a:pathLst>
                  <a:path w="1632819" h="317122">
                    <a:moveTo>
                      <a:pt x="1632819" y="158561"/>
                    </a:moveTo>
                    <a:cubicBezTo>
                      <a:pt x="1632819" y="71464"/>
                      <a:pt x="1552809" y="0"/>
                      <a:pt x="1452479" y="0"/>
                    </a:cubicBezTo>
                    <a:lnTo>
                      <a:pt x="172720" y="0"/>
                    </a:lnTo>
                    <a:lnTo>
                      <a:pt x="172720" y="1117"/>
                    </a:lnTo>
                    <a:cubicBezTo>
                      <a:pt x="76200" y="4467"/>
                      <a:pt x="0" y="73698"/>
                      <a:pt x="0" y="158561"/>
                    </a:cubicBezTo>
                    <a:cubicBezTo>
                      <a:pt x="0" y="243425"/>
                      <a:pt x="77470" y="312656"/>
                      <a:pt x="172720" y="316006"/>
                    </a:cubicBezTo>
                    <a:lnTo>
                      <a:pt x="172720" y="317122"/>
                    </a:lnTo>
                    <a:lnTo>
                      <a:pt x="1452479" y="317122"/>
                    </a:lnTo>
                    <a:cubicBezTo>
                      <a:pt x="1551539" y="317122"/>
                      <a:pt x="1632819" y="245658"/>
                      <a:pt x="1632819" y="158561"/>
                    </a:cubicBezTo>
                    <a:close/>
                  </a:path>
                </a:pathLst>
              </a:custGeom>
              <a:solidFill>
                <a:srgbClr val="FFCB12"/>
              </a:solidFill>
            </p:spPr>
            <p:txBody>
              <a:bodyPr/>
              <a:lstStyle/>
              <a:p>
                <a:endParaRPr lang="en-AE"/>
              </a:p>
            </p:txBody>
          </p:sp>
        </p:grpSp>
        <p:sp>
          <p:nvSpPr>
            <p:cNvPr id="17" name="TextBox 17"/>
            <p:cNvSpPr txBox="1"/>
            <p:nvPr/>
          </p:nvSpPr>
          <p:spPr>
            <a:xfrm>
              <a:off x="626039" y="227935"/>
              <a:ext cx="3259415" cy="426508"/>
            </a:xfrm>
            <a:prstGeom prst="rect">
              <a:avLst/>
            </a:prstGeom>
          </p:spPr>
          <p:txBody>
            <a:bodyPr lIns="0" tIns="0" rIns="0" bIns="0" rtlCol="0" anchor="t">
              <a:spAutoFit/>
            </a:bodyPr>
            <a:lstStyle/>
            <a:p>
              <a:pPr marL="0" lvl="0" indent="0" algn="l">
                <a:lnSpc>
                  <a:spcPts val="2600"/>
                </a:lnSpc>
              </a:pPr>
              <a:r>
                <a:rPr lang="en-US" sz="2000" b="1" spc="-60">
                  <a:solidFill>
                    <a:srgbClr val="2B2929"/>
                  </a:solidFill>
                  <a:latin typeface="Arimo Bold"/>
                  <a:ea typeface="Arimo Bold"/>
                  <a:cs typeface="Arimo Bold"/>
                  <a:sym typeface="Arimo Bold"/>
                </a:rPr>
                <a:t>ACTION ITEMS</a:t>
              </a:r>
            </a:p>
          </p:txBody>
        </p:sp>
      </p:grpSp>
      <p:grpSp>
        <p:nvGrpSpPr>
          <p:cNvPr id="18" name="Group 18"/>
          <p:cNvGrpSpPr/>
          <p:nvPr/>
        </p:nvGrpSpPr>
        <p:grpSpPr>
          <a:xfrm>
            <a:off x="668188" y="3512795"/>
            <a:ext cx="3925217" cy="835298"/>
            <a:chOff x="0" y="0"/>
            <a:chExt cx="5233623" cy="1113731"/>
          </a:xfrm>
        </p:grpSpPr>
        <p:grpSp>
          <p:nvGrpSpPr>
            <p:cNvPr id="19" name="Group 19"/>
            <p:cNvGrpSpPr/>
            <p:nvPr/>
          </p:nvGrpSpPr>
          <p:grpSpPr>
            <a:xfrm>
              <a:off x="0" y="0"/>
              <a:ext cx="5233623" cy="1113731"/>
              <a:chOff x="0" y="0"/>
              <a:chExt cx="1705015" cy="406400"/>
            </a:xfrm>
          </p:grpSpPr>
          <p:sp>
            <p:nvSpPr>
              <p:cNvPr id="20" name="Freeform 20"/>
              <p:cNvSpPr/>
              <p:nvPr/>
            </p:nvSpPr>
            <p:spPr>
              <a:xfrm>
                <a:off x="17780" y="22855"/>
                <a:ext cx="1679615" cy="317122"/>
              </a:xfrm>
              <a:custGeom>
                <a:avLst/>
                <a:gdLst/>
                <a:ahLst/>
                <a:cxnLst/>
                <a:rect l="l" t="t" r="r" b="b"/>
                <a:pathLst>
                  <a:path w="1679615" h="317122">
                    <a:moveTo>
                      <a:pt x="1679615" y="158561"/>
                    </a:moveTo>
                    <a:cubicBezTo>
                      <a:pt x="1679615" y="71464"/>
                      <a:pt x="1599606" y="0"/>
                      <a:pt x="1499275" y="0"/>
                    </a:cubicBezTo>
                    <a:lnTo>
                      <a:pt x="172720" y="0"/>
                    </a:lnTo>
                    <a:lnTo>
                      <a:pt x="172720" y="1117"/>
                    </a:lnTo>
                    <a:cubicBezTo>
                      <a:pt x="76200" y="4467"/>
                      <a:pt x="0" y="73698"/>
                      <a:pt x="0" y="158561"/>
                    </a:cubicBezTo>
                    <a:cubicBezTo>
                      <a:pt x="0" y="243425"/>
                      <a:pt x="77470" y="312656"/>
                      <a:pt x="172720" y="316006"/>
                    </a:cubicBezTo>
                    <a:lnTo>
                      <a:pt x="172720" y="317122"/>
                    </a:lnTo>
                    <a:lnTo>
                      <a:pt x="1499275" y="317122"/>
                    </a:lnTo>
                    <a:cubicBezTo>
                      <a:pt x="1598335" y="317122"/>
                      <a:pt x="1679615" y="245658"/>
                      <a:pt x="1679615" y="158561"/>
                    </a:cubicBezTo>
                    <a:close/>
                  </a:path>
                </a:pathLst>
              </a:custGeom>
              <a:solidFill>
                <a:srgbClr val="FFFFFF"/>
              </a:solidFill>
            </p:spPr>
            <p:txBody>
              <a:bodyPr/>
              <a:lstStyle/>
              <a:p>
                <a:endParaRPr lang="en-AE"/>
              </a:p>
            </p:txBody>
          </p:sp>
        </p:grpSp>
        <p:grpSp>
          <p:nvGrpSpPr>
            <p:cNvPr id="21" name="Group 21"/>
            <p:cNvGrpSpPr/>
            <p:nvPr/>
          </p:nvGrpSpPr>
          <p:grpSpPr>
            <a:xfrm>
              <a:off x="732336" y="312928"/>
              <a:ext cx="370938" cy="370938"/>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00"/>
              </a:solidFill>
            </p:spPr>
            <p:txBody>
              <a:bodyPr/>
              <a:lstStyle/>
              <a:p>
                <a:endParaRPr lang="en-AE" dirty="0"/>
              </a:p>
            </p:txBody>
          </p:sp>
        </p:grpSp>
        <p:sp>
          <p:nvSpPr>
            <p:cNvPr id="23" name="TextBox 23"/>
            <p:cNvSpPr txBox="1"/>
            <p:nvPr/>
          </p:nvSpPr>
          <p:spPr>
            <a:xfrm>
              <a:off x="1339844" y="284353"/>
              <a:ext cx="3196825" cy="426508"/>
            </a:xfrm>
            <a:prstGeom prst="rect">
              <a:avLst/>
            </a:prstGeom>
          </p:spPr>
          <p:txBody>
            <a:bodyPr lIns="0" tIns="0" rIns="0" bIns="0" rtlCol="0" anchor="t">
              <a:spAutoFit/>
            </a:bodyPr>
            <a:lstStyle/>
            <a:p>
              <a:pPr marL="0" lvl="0" indent="0" algn="l">
                <a:lnSpc>
                  <a:spcPts val="2600"/>
                </a:lnSpc>
              </a:pPr>
              <a:r>
                <a:rPr lang="en-US" sz="2000" b="1" spc="-60" dirty="0">
                  <a:solidFill>
                    <a:srgbClr val="2B2929"/>
                  </a:solidFill>
                  <a:latin typeface="Arimo Bold"/>
                  <a:ea typeface="Arimo Bold"/>
                  <a:cs typeface="Arimo Bold"/>
                  <a:sym typeface="Arimo Bold"/>
                </a:rPr>
                <a:t>In progress</a:t>
              </a:r>
            </a:p>
          </p:txBody>
        </p:sp>
      </p:grpSp>
      <p:grpSp>
        <p:nvGrpSpPr>
          <p:cNvPr id="24" name="Group 24"/>
          <p:cNvGrpSpPr/>
          <p:nvPr/>
        </p:nvGrpSpPr>
        <p:grpSpPr>
          <a:xfrm>
            <a:off x="972653" y="1054245"/>
            <a:ext cx="4055638" cy="1641698"/>
            <a:chOff x="0" y="-142875"/>
            <a:chExt cx="5407517" cy="2188931"/>
          </a:xfrm>
        </p:grpSpPr>
        <p:sp>
          <p:nvSpPr>
            <p:cNvPr id="25" name="TextBox 25"/>
            <p:cNvSpPr txBox="1"/>
            <p:nvPr/>
          </p:nvSpPr>
          <p:spPr>
            <a:xfrm>
              <a:off x="0" y="-142875"/>
              <a:ext cx="5407517" cy="1362075"/>
            </a:xfrm>
            <a:prstGeom prst="rect">
              <a:avLst/>
            </a:prstGeom>
          </p:spPr>
          <p:txBody>
            <a:bodyPr lIns="0" tIns="0" rIns="0" bIns="0" rtlCol="0" anchor="t">
              <a:spAutoFit/>
            </a:bodyPr>
            <a:lstStyle/>
            <a:p>
              <a:pPr marL="0" lvl="0" indent="0" algn="l">
                <a:lnSpc>
                  <a:spcPts val="8400"/>
                </a:lnSpc>
              </a:pPr>
              <a:r>
                <a:rPr lang="en-US" sz="6000" b="1" spc="-120">
                  <a:solidFill>
                    <a:srgbClr val="2B2929"/>
                  </a:solidFill>
                  <a:latin typeface="Arimo Bold"/>
                  <a:ea typeface="Arimo Bold"/>
                  <a:cs typeface="Arimo Bold"/>
                  <a:sym typeface="Arimo Bold"/>
                </a:rPr>
                <a:t>Goal # 3</a:t>
              </a:r>
            </a:p>
          </p:txBody>
        </p:sp>
        <p:sp>
          <p:nvSpPr>
            <p:cNvPr id="26" name="TextBox 26"/>
            <p:cNvSpPr txBox="1"/>
            <p:nvPr/>
          </p:nvSpPr>
          <p:spPr>
            <a:xfrm>
              <a:off x="0" y="1525485"/>
              <a:ext cx="5407517" cy="520571"/>
            </a:xfrm>
            <a:prstGeom prst="rect">
              <a:avLst/>
            </a:prstGeom>
          </p:spPr>
          <p:txBody>
            <a:bodyPr lIns="0" tIns="0" rIns="0" bIns="0" rtlCol="0" anchor="t">
              <a:spAutoFit/>
            </a:bodyPr>
            <a:lstStyle/>
            <a:p>
              <a:pPr lvl="0">
                <a:lnSpc>
                  <a:spcPts val="3250"/>
                </a:lnSpc>
              </a:pPr>
              <a:r>
                <a:rPr lang="en-US" sz="2500" b="1" spc="-75" dirty="0">
                  <a:solidFill>
                    <a:srgbClr val="2B2929"/>
                  </a:solidFill>
                  <a:latin typeface="Arimo Bold"/>
                  <a:ea typeface="Arimo Bold"/>
                  <a:cs typeface="Arimo Bold"/>
                  <a:sym typeface="Arimo Bold"/>
                </a:rPr>
                <a:t>Vision &amp; Control system</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6"/>
          <p:cNvSpPr txBox="1"/>
          <p:nvPr/>
        </p:nvSpPr>
        <p:spPr>
          <a:xfrm>
            <a:off x="1028700" y="1028700"/>
            <a:ext cx="11851795" cy="842667"/>
          </a:xfrm>
          <a:prstGeom prst="rect">
            <a:avLst/>
          </a:prstGeom>
        </p:spPr>
        <p:txBody>
          <a:bodyPr lIns="0" tIns="0" rIns="0" bIns="0" rtlCol="0" anchor="t">
            <a:spAutoFit/>
          </a:bodyPr>
          <a:lstStyle/>
          <a:p>
            <a:pPr algn="l">
              <a:lnSpc>
                <a:spcPts val="6959"/>
              </a:lnSpc>
            </a:pPr>
            <a:r>
              <a:rPr lang="en-US" sz="5799" b="1" dirty="0">
                <a:solidFill>
                  <a:srgbClr val="1836B2"/>
                </a:solidFill>
                <a:latin typeface="Fira Sans Ultra-Bold"/>
                <a:ea typeface="Fira Sans Ultra-Bold"/>
                <a:cs typeface="Fira Sans Ultra-Bold"/>
                <a:sym typeface="Fira Sans Ultra-Bold"/>
              </a:rPr>
              <a:t>Project schedule (Gantt)</a:t>
            </a:r>
          </a:p>
        </p:txBody>
      </p:sp>
      <p:pic>
        <p:nvPicPr>
          <p:cNvPr id="3" name="Picture 2">
            <a:extLst>
              <a:ext uri="{FF2B5EF4-FFF2-40B4-BE49-F238E27FC236}">
                <a16:creationId xmlns:a16="http://schemas.microsoft.com/office/drawing/2014/main" id="{44DE86F6-43F9-E4B0-EABF-D4D6D38729E3}"/>
              </a:ext>
            </a:extLst>
          </p:cNvPr>
          <p:cNvPicPr>
            <a:picLocks noChangeAspect="1"/>
          </p:cNvPicPr>
          <p:nvPr/>
        </p:nvPicPr>
        <p:blipFill>
          <a:blip r:embed="rId2"/>
          <a:srcRect b="1905"/>
          <a:stretch>
            <a:fillRect/>
          </a:stretch>
        </p:blipFill>
        <p:spPr>
          <a:xfrm>
            <a:off x="65266" y="2019300"/>
            <a:ext cx="18157468" cy="7848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243204" y="1431952"/>
            <a:ext cx="3550383" cy="3382042"/>
          </a:xfrm>
          <a:prstGeom prst="rect">
            <a:avLst/>
          </a:prstGeom>
          <a:solidFill>
            <a:srgbClr val="F3F8FF"/>
          </a:solidFill>
        </p:spPr>
        <p:txBody>
          <a:bodyPr/>
          <a:lstStyle/>
          <a:p>
            <a:endParaRPr lang="en-AE" sz="2000"/>
          </a:p>
        </p:txBody>
      </p:sp>
      <p:sp>
        <p:nvSpPr>
          <p:cNvPr id="4" name="TextBox 4"/>
          <p:cNvSpPr txBox="1"/>
          <p:nvPr/>
        </p:nvSpPr>
        <p:spPr>
          <a:xfrm>
            <a:off x="6243204" y="813379"/>
            <a:ext cx="3550383" cy="732060"/>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Accomplished (since last report)</a:t>
            </a:r>
          </a:p>
        </p:txBody>
      </p:sp>
      <p:sp>
        <p:nvSpPr>
          <p:cNvPr id="6" name="AutoShape 6"/>
          <p:cNvSpPr/>
          <p:nvPr/>
        </p:nvSpPr>
        <p:spPr>
          <a:xfrm>
            <a:off x="10125791" y="1402057"/>
            <a:ext cx="7427688" cy="3411937"/>
          </a:xfrm>
          <a:prstGeom prst="rect">
            <a:avLst/>
          </a:prstGeom>
          <a:solidFill>
            <a:srgbClr val="F3F8FF"/>
          </a:solidFill>
        </p:spPr>
        <p:txBody>
          <a:bodyPr/>
          <a:lstStyle/>
          <a:p>
            <a:endParaRPr lang="en-AE" sz="2000"/>
          </a:p>
        </p:txBody>
      </p:sp>
      <p:sp>
        <p:nvSpPr>
          <p:cNvPr id="7" name="AutoShape 7"/>
          <p:cNvSpPr/>
          <p:nvPr/>
        </p:nvSpPr>
        <p:spPr>
          <a:xfrm>
            <a:off x="6243204" y="5784752"/>
            <a:ext cx="3550383" cy="3634329"/>
          </a:xfrm>
          <a:prstGeom prst="rect">
            <a:avLst/>
          </a:prstGeom>
          <a:solidFill>
            <a:srgbClr val="F3F8FF"/>
          </a:solidFill>
        </p:spPr>
        <p:txBody>
          <a:bodyPr/>
          <a:lstStyle/>
          <a:p>
            <a:endParaRPr lang="en-AE" sz="2000"/>
          </a:p>
        </p:txBody>
      </p:sp>
      <p:sp>
        <p:nvSpPr>
          <p:cNvPr id="8" name="AutoShape 8"/>
          <p:cNvSpPr/>
          <p:nvPr/>
        </p:nvSpPr>
        <p:spPr>
          <a:xfrm>
            <a:off x="10125791" y="5784752"/>
            <a:ext cx="3550383" cy="3634329"/>
          </a:xfrm>
          <a:prstGeom prst="rect">
            <a:avLst/>
          </a:prstGeom>
          <a:solidFill>
            <a:srgbClr val="F3F8FF"/>
          </a:solidFill>
        </p:spPr>
        <p:txBody>
          <a:bodyPr/>
          <a:lstStyle/>
          <a:p>
            <a:endParaRPr lang="en-AE" sz="2000"/>
          </a:p>
        </p:txBody>
      </p:sp>
      <p:sp>
        <p:nvSpPr>
          <p:cNvPr id="25" name="TextBox 25"/>
          <p:cNvSpPr txBox="1"/>
          <p:nvPr/>
        </p:nvSpPr>
        <p:spPr>
          <a:xfrm>
            <a:off x="750596" y="794329"/>
            <a:ext cx="4762914" cy="583558"/>
          </a:xfrm>
          <a:prstGeom prst="rect">
            <a:avLst/>
          </a:prstGeom>
        </p:spPr>
        <p:txBody>
          <a:bodyPr lIns="0" tIns="0" rIns="0" bIns="0" rtlCol="0" anchor="t">
            <a:spAutoFit/>
          </a:bodyPr>
          <a:lstStyle/>
          <a:p>
            <a:pPr algn="l">
              <a:lnSpc>
                <a:spcPts val="4759"/>
              </a:lnSpc>
              <a:spcBef>
                <a:spcPct val="0"/>
              </a:spcBef>
            </a:pPr>
            <a:r>
              <a:rPr lang="en-US" sz="3600" b="1" dirty="0">
                <a:solidFill>
                  <a:srgbClr val="000000"/>
                </a:solidFill>
                <a:latin typeface="Garet Bold"/>
                <a:ea typeface="Garet Bold"/>
                <a:cs typeface="Garet Bold"/>
                <a:sym typeface="Garet Bold"/>
              </a:rPr>
              <a:t>Omar’s progress</a:t>
            </a:r>
          </a:p>
        </p:txBody>
      </p:sp>
      <p:sp>
        <p:nvSpPr>
          <p:cNvPr id="26" name="TextBox 26"/>
          <p:cNvSpPr txBox="1"/>
          <p:nvPr/>
        </p:nvSpPr>
        <p:spPr>
          <a:xfrm>
            <a:off x="750596" y="2414334"/>
            <a:ext cx="4632610" cy="2294859"/>
          </a:xfrm>
          <a:prstGeom prst="rect">
            <a:avLst/>
          </a:prstGeom>
        </p:spPr>
        <p:txBody>
          <a:bodyPr lIns="0" tIns="0" rIns="0" bIns="0" rtlCol="0" anchor="t">
            <a:spAutoFit/>
          </a:bodyPr>
          <a:lstStyle/>
          <a:p>
            <a:pPr algn="l">
              <a:lnSpc>
                <a:spcPts val="2239"/>
              </a:lnSpc>
            </a:pPr>
            <a:r>
              <a:rPr lang="en-US" sz="3200" b="1" dirty="0">
                <a:solidFill>
                  <a:srgbClr val="000000"/>
                </a:solidFill>
                <a:latin typeface="Garet Bold"/>
                <a:ea typeface="Garet Bold"/>
                <a:cs typeface="Garet Bold"/>
                <a:sym typeface="Garet Bold"/>
              </a:rPr>
              <a:t>Time frame:</a:t>
            </a:r>
          </a:p>
          <a:p>
            <a:pPr algn="l">
              <a:lnSpc>
                <a:spcPts val="2239"/>
              </a:lnSpc>
            </a:pPr>
            <a:endParaRPr lang="en-US" sz="3200" b="1" dirty="0">
              <a:solidFill>
                <a:srgbClr val="000000"/>
              </a:solidFill>
              <a:latin typeface="Garet Bold"/>
              <a:ea typeface="Garet Bold"/>
              <a:cs typeface="Garet Bold"/>
              <a:sym typeface="Garet Bold"/>
            </a:endParaRPr>
          </a:p>
          <a:p>
            <a:pPr algn="l">
              <a:lnSpc>
                <a:spcPts val="2239"/>
              </a:lnSpc>
            </a:pPr>
            <a:r>
              <a:rPr lang="en-US" sz="3200" dirty="0">
                <a:solidFill>
                  <a:srgbClr val="000000"/>
                </a:solidFill>
                <a:latin typeface="Garet"/>
                <a:ea typeface="Garet"/>
                <a:cs typeface="Garet"/>
                <a:sym typeface="Garet"/>
              </a:rPr>
              <a:t>Weeks 1-3</a:t>
            </a:r>
          </a:p>
          <a:p>
            <a:pPr algn="l">
              <a:lnSpc>
                <a:spcPts val="2239"/>
              </a:lnSpc>
            </a:pPr>
            <a:endParaRPr lang="en-US" sz="3200" dirty="0">
              <a:solidFill>
                <a:srgbClr val="000000"/>
              </a:solidFill>
              <a:latin typeface="Garet"/>
              <a:ea typeface="Garet"/>
              <a:cs typeface="Garet"/>
              <a:sym typeface="Garet"/>
            </a:endParaRPr>
          </a:p>
          <a:p>
            <a:pPr algn="l">
              <a:lnSpc>
                <a:spcPts val="2239"/>
              </a:lnSpc>
            </a:pPr>
            <a:endParaRPr lang="en-US" sz="3200" dirty="0">
              <a:solidFill>
                <a:srgbClr val="000000"/>
              </a:solidFill>
              <a:latin typeface="Garet"/>
              <a:ea typeface="Garet"/>
              <a:cs typeface="Garet"/>
              <a:sym typeface="Garet"/>
            </a:endParaRPr>
          </a:p>
          <a:p>
            <a:pPr>
              <a:lnSpc>
                <a:spcPts val="2239"/>
              </a:lnSpc>
            </a:pPr>
            <a:r>
              <a:rPr lang="en-US" sz="3200" b="1" dirty="0">
                <a:solidFill>
                  <a:srgbClr val="000000"/>
                </a:solidFill>
                <a:latin typeface="Garet"/>
                <a:ea typeface="Garet"/>
                <a:cs typeface="Garet"/>
                <a:sym typeface="Garet"/>
              </a:rPr>
              <a:t>Main role: </a:t>
            </a:r>
          </a:p>
          <a:p>
            <a:pPr>
              <a:lnSpc>
                <a:spcPts val="2239"/>
              </a:lnSpc>
            </a:pPr>
            <a:endParaRPr lang="en-US" sz="3200" b="1" dirty="0">
              <a:solidFill>
                <a:srgbClr val="000000"/>
              </a:solidFill>
              <a:latin typeface="Garet"/>
              <a:ea typeface="Garet"/>
              <a:cs typeface="Garet"/>
              <a:sym typeface="Garet"/>
            </a:endParaRPr>
          </a:p>
          <a:p>
            <a:pPr>
              <a:lnSpc>
                <a:spcPts val="2239"/>
              </a:lnSpc>
            </a:pPr>
            <a:r>
              <a:rPr lang="en-US" sz="3200" dirty="0"/>
              <a:t>Software &amp; </a:t>
            </a:r>
            <a:r>
              <a:rPr lang="en-US" sz="3200" dirty="0">
                <a:solidFill>
                  <a:srgbClr val="000000"/>
                </a:solidFill>
                <a:latin typeface="Garet"/>
                <a:ea typeface="Garet"/>
                <a:cs typeface="Garet"/>
                <a:sym typeface="Garet"/>
              </a:rPr>
              <a:t>Ros2</a:t>
            </a:r>
          </a:p>
        </p:txBody>
      </p:sp>
      <p:sp>
        <p:nvSpPr>
          <p:cNvPr id="29" name="TextBox 29"/>
          <p:cNvSpPr txBox="1"/>
          <p:nvPr/>
        </p:nvSpPr>
        <p:spPr>
          <a:xfrm>
            <a:off x="10125791" y="813379"/>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Evidence (show, don’t tell)</a:t>
            </a:r>
          </a:p>
        </p:txBody>
      </p:sp>
      <p:sp>
        <p:nvSpPr>
          <p:cNvPr id="30" name="TextBox 30"/>
          <p:cNvSpPr txBox="1"/>
          <p:nvPr/>
        </p:nvSpPr>
        <p:spPr>
          <a:xfrm>
            <a:off x="6583504" y="1699701"/>
            <a:ext cx="2869784" cy="3077766"/>
          </a:xfrm>
          <a:prstGeom prst="rect">
            <a:avLst/>
          </a:prstGeom>
        </p:spPr>
        <p:txBody>
          <a:bodyPr lIns="0" tIns="0" rIns="0" bIns="0" rtlCol="0" anchor="t">
            <a:spAutoFit/>
          </a:bodyPr>
          <a:lstStyle/>
          <a:p>
            <a:pPr marL="302259" lvl="1" indent="-151129" algn="l">
              <a:lnSpc>
                <a:spcPts val="1959"/>
              </a:lnSpc>
              <a:buFont typeface="Arial"/>
              <a:buChar char="•"/>
            </a:pPr>
            <a:r>
              <a:rPr lang="en-US" dirty="0">
                <a:solidFill>
                  <a:srgbClr val="000000"/>
                </a:solidFill>
                <a:latin typeface="Garet Light"/>
                <a:ea typeface="Garet Light"/>
                <a:cs typeface="Garet Light"/>
                <a:sym typeface="Garet Light"/>
              </a:rPr>
              <a:t>Implemented final URDF of the model in gazebo and Rviz2 for moveit2 control based on final geometrical features</a:t>
            </a:r>
          </a:p>
          <a:p>
            <a:pPr marL="302259" lvl="1" indent="-151129" algn="l">
              <a:lnSpc>
                <a:spcPts val="1959"/>
              </a:lnSpc>
              <a:buFont typeface="Arial"/>
              <a:buChar char="•"/>
            </a:pPr>
            <a:r>
              <a:rPr lang="en-US" dirty="0">
                <a:solidFill>
                  <a:srgbClr val="000000"/>
                </a:solidFill>
                <a:latin typeface="Garet Light"/>
                <a:ea typeface="Garet Light"/>
                <a:cs typeface="Garet Light"/>
                <a:sym typeface="Garet Light"/>
              </a:rPr>
              <a:t>Made an OpenCV classifier that follows a red ball for autonomous vehicle for 2D tracking as of now</a:t>
            </a: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p:txBody>
      </p:sp>
      <p:sp>
        <p:nvSpPr>
          <p:cNvPr id="31" name="TextBox 31"/>
          <p:cNvSpPr txBox="1"/>
          <p:nvPr/>
        </p:nvSpPr>
        <p:spPr>
          <a:xfrm>
            <a:off x="10466090" y="1669806"/>
            <a:ext cx="6747089" cy="239681"/>
          </a:xfrm>
          <a:prstGeom prst="rect">
            <a:avLst/>
          </a:prstGeom>
        </p:spPr>
        <p:txBody>
          <a:bodyPr lIns="0" tIns="0" rIns="0" bIns="0" rtlCol="0" anchor="t">
            <a:spAutoFit/>
          </a:bodyPr>
          <a:lstStyle/>
          <a:p>
            <a:pPr algn="l">
              <a:lnSpc>
                <a:spcPts val="1959"/>
              </a:lnSpc>
            </a:pPr>
            <a:endParaRPr lang="en-US" sz="1400" dirty="0">
              <a:solidFill>
                <a:srgbClr val="000000"/>
              </a:solidFill>
              <a:latin typeface="Garet Light"/>
              <a:ea typeface="Garet Light"/>
              <a:cs typeface="Garet Light"/>
              <a:sym typeface="Garet Light"/>
            </a:endParaRPr>
          </a:p>
        </p:txBody>
      </p:sp>
      <p:sp>
        <p:nvSpPr>
          <p:cNvPr id="33" name="TextBox 33"/>
          <p:cNvSpPr txBox="1"/>
          <p:nvPr/>
        </p:nvSpPr>
        <p:spPr>
          <a:xfrm>
            <a:off x="6243204"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Next Week Plan</a:t>
            </a:r>
          </a:p>
        </p:txBody>
      </p:sp>
      <p:sp>
        <p:nvSpPr>
          <p:cNvPr id="34" name="TextBox 34"/>
          <p:cNvSpPr txBox="1"/>
          <p:nvPr/>
        </p:nvSpPr>
        <p:spPr>
          <a:xfrm>
            <a:off x="6583504" y="6052500"/>
            <a:ext cx="2869784" cy="1285993"/>
          </a:xfrm>
          <a:prstGeom prst="rect">
            <a:avLst/>
          </a:prstGeom>
        </p:spPr>
        <p:txBody>
          <a:bodyPr lIns="0" tIns="0" rIns="0" bIns="0" rtlCol="0" anchor="t">
            <a:spAutoFit/>
          </a:bodyPr>
          <a:lstStyle/>
          <a:p>
            <a:pPr marL="285750" indent="-285750" algn="l">
              <a:lnSpc>
                <a:spcPts val="1959"/>
              </a:lnSpc>
              <a:buFont typeface="Arial" panose="020B0604020202020204" pitchFamily="34" charset="0"/>
              <a:buChar char="•"/>
            </a:pPr>
            <a:r>
              <a:rPr lang="en-US" sz="2000" dirty="0">
                <a:solidFill>
                  <a:srgbClr val="000000"/>
                </a:solidFill>
                <a:latin typeface="Garet Light"/>
                <a:ea typeface="Garet Light"/>
                <a:cs typeface="Garet Light"/>
                <a:sym typeface="Garet Light"/>
              </a:rPr>
              <a:t>Use a model for object detection and tracking of a red ball and connect a depth camera and see how it behaves</a:t>
            </a:r>
          </a:p>
        </p:txBody>
      </p:sp>
      <p:sp>
        <p:nvSpPr>
          <p:cNvPr id="35" name="TextBox 35"/>
          <p:cNvSpPr txBox="1"/>
          <p:nvPr/>
        </p:nvSpPr>
        <p:spPr>
          <a:xfrm>
            <a:off x="10125791"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In Progress</a:t>
            </a:r>
          </a:p>
        </p:txBody>
      </p:sp>
      <p:sp>
        <p:nvSpPr>
          <p:cNvPr id="36" name="TextBox 36"/>
          <p:cNvSpPr txBox="1"/>
          <p:nvPr/>
        </p:nvSpPr>
        <p:spPr>
          <a:xfrm>
            <a:off x="10466090" y="6052500"/>
            <a:ext cx="2869784" cy="769441"/>
          </a:xfrm>
          <a:prstGeom prst="rect">
            <a:avLst/>
          </a:prstGeom>
        </p:spPr>
        <p:txBody>
          <a:bodyPr lIns="0" tIns="0" rIns="0" bIns="0" rtlCol="0" anchor="t">
            <a:spAutoFit/>
          </a:bodyPr>
          <a:lstStyle/>
          <a:p>
            <a:pPr marL="302259" lvl="1" indent="-151129">
              <a:lnSpc>
                <a:spcPts val="1959"/>
              </a:lnSpc>
              <a:buFont typeface="Arial"/>
              <a:buChar char="•"/>
            </a:pPr>
            <a:r>
              <a:rPr lang="en-US" dirty="0">
                <a:solidFill>
                  <a:srgbClr val="000000"/>
                </a:solidFill>
                <a:latin typeface="Garet Light"/>
                <a:ea typeface="Garet Light"/>
                <a:cs typeface="Garet Light"/>
                <a:sym typeface="Garet Light"/>
              </a:rPr>
              <a:t>Implement ros2_control with the robotic arm to achieve full autonomy </a:t>
            </a:r>
          </a:p>
        </p:txBody>
      </p:sp>
      <p:sp>
        <p:nvSpPr>
          <p:cNvPr id="37" name="TextBox 37"/>
          <p:cNvSpPr txBox="1"/>
          <p:nvPr/>
        </p:nvSpPr>
        <p:spPr>
          <a:xfrm>
            <a:off x="14003096" y="5166178"/>
            <a:ext cx="3550383" cy="1093826"/>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Help Needed / Questions</a:t>
            </a:r>
          </a:p>
          <a:p>
            <a:pPr>
              <a:lnSpc>
                <a:spcPts val="2940"/>
              </a:lnSpc>
              <a:spcBef>
                <a:spcPct val="0"/>
              </a:spcBef>
            </a:pPr>
            <a:endParaRPr lang="en-US" sz="2400" b="1" dirty="0">
              <a:solidFill>
                <a:srgbClr val="000000"/>
              </a:solidFill>
              <a:latin typeface="Garet Bold"/>
              <a:ea typeface="Garet Bold"/>
              <a:cs typeface="Garet Bold"/>
              <a:sym typeface="Garet Bold"/>
            </a:endParaRPr>
          </a:p>
          <a:p>
            <a:pPr>
              <a:lnSpc>
                <a:spcPts val="2940"/>
              </a:lnSpc>
              <a:spcBef>
                <a:spcPct val="0"/>
              </a:spcBef>
            </a:pPr>
            <a:endParaRPr lang="en-US" sz="2400" b="1" dirty="0">
              <a:solidFill>
                <a:srgbClr val="000000"/>
              </a:solidFill>
              <a:latin typeface="Garet Bold"/>
              <a:ea typeface="Garet Bold"/>
              <a:cs typeface="Garet Bold"/>
              <a:sym typeface="Garet Bold"/>
            </a:endParaRPr>
          </a:p>
        </p:txBody>
      </p:sp>
      <p:pic>
        <p:nvPicPr>
          <p:cNvPr id="40" name="Picture 39">
            <a:extLst>
              <a:ext uri="{FF2B5EF4-FFF2-40B4-BE49-F238E27FC236}">
                <a16:creationId xmlns:a16="http://schemas.microsoft.com/office/drawing/2014/main" id="{490515D2-69FE-3A56-B215-4D5FA7948B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10269" y="1355252"/>
            <a:ext cx="5185653" cy="3457102"/>
          </a:xfrm>
          <a:prstGeom prst="rect">
            <a:avLst/>
          </a:prstGeom>
        </p:spPr>
      </p:pic>
      <p:sp>
        <p:nvSpPr>
          <p:cNvPr id="41" name="AutoShape 8">
            <a:extLst>
              <a:ext uri="{FF2B5EF4-FFF2-40B4-BE49-F238E27FC236}">
                <a16:creationId xmlns:a16="http://schemas.microsoft.com/office/drawing/2014/main" id="{4E0ECB8A-D784-4DEE-AB12-F81D97D32EE7}"/>
              </a:ext>
            </a:extLst>
          </p:cNvPr>
          <p:cNvSpPr/>
          <p:nvPr/>
        </p:nvSpPr>
        <p:spPr>
          <a:xfrm>
            <a:off x="14016473" y="5784752"/>
            <a:ext cx="3550383" cy="3634329"/>
          </a:xfrm>
          <a:prstGeom prst="rect">
            <a:avLst/>
          </a:prstGeom>
          <a:solidFill>
            <a:srgbClr val="F3F8FF"/>
          </a:solidFill>
        </p:spPr>
        <p:txBody>
          <a:bodyPr/>
          <a:lstStyle/>
          <a:p>
            <a:endParaRPr lang="en-AE" sz="2000"/>
          </a:p>
        </p:txBody>
      </p:sp>
      <p:sp>
        <p:nvSpPr>
          <p:cNvPr id="42" name="TextBox 36">
            <a:extLst>
              <a:ext uri="{FF2B5EF4-FFF2-40B4-BE49-F238E27FC236}">
                <a16:creationId xmlns:a16="http://schemas.microsoft.com/office/drawing/2014/main" id="{2DACDA34-309F-2A53-BFE5-5B91B9215A35}"/>
              </a:ext>
            </a:extLst>
          </p:cNvPr>
          <p:cNvSpPr txBox="1"/>
          <p:nvPr/>
        </p:nvSpPr>
        <p:spPr>
          <a:xfrm>
            <a:off x="14356772" y="6052500"/>
            <a:ext cx="2869784" cy="1025922"/>
          </a:xfrm>
          <a:prstGeom prst="rect">
            <a:avLst/>
          </a:prstGeom>
        </p:spPr>
        <p:txBody>
          <a:bodyPr lIns="0" tIns="0" rIns="0" bIns="0" rtlCol="0" anchor="t">
            <a:spAutoFit/>
          </a:bodyPr>
          <a:lstStyle/>
          <a:p>
            <a:pPr marL="302259" lvl="1" indent="-151129">
              <a:lnSpc>
                <a:spcPts val="1959"/>
              </a:lnSpc>
              <a:buFont typeface="Arial"/>
              <a:buChar char="•"/>
            </a:pPr>
            <a:r>
              <a:rPr lang="en-US" dirty="0"/>
              <a:t>Hardware specs confirmation</a:t>
            </a:r>
          </a:p>
          <a:p>
            <a:pPr marL="302259" lvl="1" indent="-151129">
              <a:lnSpc>
                <a:spcPts val="1959"/>
              </a:lnSpc>
              <a:buFont typeface="Arial"/>
              <a:buChar char="•"/>
            </a:pPr>
            <a:r>
              <a:rPr lang="en-US" dirty="0"/>
              <a:t>Motor driver compatibility</a:t>
            </a:r>
          </a:p>
          <a:p>
            <a:pPr marL="302259" lvl="1" indent="-151129">
              <a:lnSpc>
                <a:spcPts val="1959"/>
              </a:lnSpc>
              <a:buFont typeface="Arial"/>
              <a:buChar char="•"/>
            </a:pPr>
            <a:r>
              <a:rPr lang="en-US" dirty="0"/>
              <a:t>ROS2 integration issues</a:t>
            </a:r>
            <a:endParaRPr lang="en-US" dirty="0">
              <a:solidFill>
                <a:srgbClr val="000000"/>
              </a:solidFill>
              <a:latin typeface="Garet Light"/>
              <a:ea typeface="Garet Light"/>
              <a:cs typeface="Garet Light"/>
              <a:sym typeface="Garet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9BCB8-AF9C-10CB-0831-0543FB55D96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6C4588-66E8-74F2-B85B-7539D8560CE4}"/>
              </a:ext>
            </a:extLst>
          </p:cNvPr>
          <p:cNvSpPr/>
          <p:nvPr/>
        </p:nvSpPr>
        <p:spPr>
          <a:xfrm>
            <a:off x="6144855" y="1399791"/>
            <a:ext cx="3550383" cy="3382042"/>
          </a:xfrm>
          <a:prstGeom prst="rect">
            <a:avLst/>
          </a:prstGeom>
          <a:solidFill>
            <a:srgbClr val="F3F8FF"/>
          </a:solidFill>
        </p:spPr>
        <p:txBody>
          <a:bodyPr/>
          <a:lstStyle/>
          <a:p>
            <a:endParaRPr lang="en-AE" sz="2000" dirty="0"/>
          </a:p>
        </p:txBody>
      </p:sp>
      <p:sp>
        <p:nvSpPr>
          <p:cNvPr id="4" name="TextBox 4">
            <a:extLst>
              <a:ext uri="{FF2B5EF4-FFF2-40B4-BE49-F238E27FC236}">
                <a16:creationId xmlns:a16="http://schemas.microsoft.com/office/drawing/2014/main" id="{5545DB84-70CD-DE3B-77D7-1B3503894B42}"/>
              </a:ext>
            </a:extLst>
          </p:cNvPr>
          <p:cNvSpPr txBox="1"/>
          <p:nvPr/>
        </p:nvSpPr>
        <p:spPr>
          <a:xfrm>
            <a:off x="6243204" y="813379"/>
            <a:ext cx="3550383" cy="732060"/>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Accomplished (since last report)</a:t>
            </a:r>
          </a:p>
        </p:txBody>
      </p:sp>
      <p:sp>
        <p:nvSpPr>
          <p:cNvPr id="6" name="AutoShape 6">
            <a:extLst>
              <a:ext uri="{FF2B5EF4-FFF2-40B4-BE49-F238E27FC236}">
                <a16:creationId xmlns:a16="http://schemas.microsoft.com/office/drawing/2014/main" id="{C4DDD441-713E-6567-22D8-8957001413A4}"/>
              </a:ext>
            </a:extLst>
          </p:cNvPr>
          <p:cNvSpPr/>
          <p:nvPr/>
        </p:nvSpPr>
        <p:spPr>
          <a:xfrm>
            <a:off x="10125791" y="1402057"/>
            <a:ext cx="7427688" cy="3411937"/>
          </a:xfrm>
          <a:prstGeom prst="rect">
            <a:avLst/>
          </a:prstGeom>
          <a:solidFill>
            <a:srgbClr val="F3F8FF"/>
          </a:solidFill>
        </p:spPr>
        <p:txBody>
          <a:bodyPr/>
          <a:lstStyle/>
          <a:p>
            <a:endParaRPr lang="en-AE" sz="2000"/>
          </a:p>
        </p:txBody>
      </p:sp>
      <p:sp>
        <p:nvSpPr>
          <p:cNvPr id="7" name="AutoShape 7">
            <a:extLst>
              <a:ext uri="{FF2B5EF4-FFF2-40B4-BE49-F238E27FC236}">
                <a16:creationId xmlns:a16="http://schemas.microsoft.com/office/drawing/2014/main" id="{BF668452-E60F-4D9D-5592-CFF5670928B3}"/>
              </a:ext>
            </a:extLst>
          </p:cNvPr>
          <p:cNvSpPr/>
          <p:nvPr/>
        </p:nvSpPr>
        <p:spPr>
          <a:xfrm>
            <a:off x="6243204" y="5784752"/>
            <a:ext cx="3550383" cy="3634329"/>
          </a:xfrm>
          <a:prstGeom prst="rect">
            <a:avLst/>
          </a:prstGeom>
          <a:solidFill>
            <a:srgbClr val="F3F8FF"/>
          </a:solidFill>
        </p:spPr>
        <p:txBody>
          <a:bodyPr/>
          <a:lstStyle/>
          <a:p>
            <a:endParaRPr lang="en-AE" sz="2000"/>
          </a:p>
        </p:txBody>
      </p:sp>
      <p:sp>
        <p:nvSpPr>
          <p:cNvPr id="8" name="AutoShape 8">
            <a:extLst>
              <a:ext uri="{FF2B5EF4-FFF2-40B4-BE49-F238E27FC236}">
                <a16:creationId xmlns:a16="http://schemas.microsoft.com/office/drawing/2014/main" id="{243772AA-CC58-9F03-B3B5-ED1440700797}"/>
              </a:ext>
            </a:extLst>
          </p:cNvPr>
          <p:cNvSpPr/>
          <p:nvPr/>
        </p:nvSpPr>
        <p:spPr>
          <a:xfrm>
            <a:off x="10125791" y="5784752"/>
            <a:ext cx="3550383" cy="3634329"/>
          </a:xfrm>
          <a:prstGeom prst="rect">
            <a:avLst/>
          </a:prstGeom>
          <a:solidFill>
            <a:srgbClr val="F3F8FF"/>
          </a:solidFill>
        </p:spPr>
        <p:txBody>
          <a:bodyPr/>
          <a:lstStyle/>
          <a:p>
            <a:endParaRPr lang="en-AE" sz="2000"/>
          </a:p>
        </p:txBody>
      </p:sp>
      <p:sp>
        <p:nvSpPr>
          <p:cNvPr id="25" name="TextBox 25">
            <a:extLst>
              <a:ext uri="{FF2B5EF4-FFF2-40B4-BE49-F238E27FC236}">
                <a16:creationId xmlns:a16="http://schemas.microsoft.com/office/drawing/2014/main" id="{516C735E-8F6B-D9F5-4451-006B62FF80E6}"/>
              </a:ext>
            </a:extLst>
          </p:cNvPr>
          <p:cNvSpPr txBox="1"/>
          <p:nvPr/>
        </p:nvSpPr>
        <p:spPr>
          <a:xfrm>
            <a:off x="750596" y="794329"/>
            <a:ext cx="4762914" cy="583558"/>
          </a:xfrm>
          <a:prstGeom prst="rect">
            <a:avLst/>
          </a:prstGeom>
        </p:spPr>
        <p:txBody>
          <a:bodyPr lIns="0" tIns="0" rIns="0" bIns="0" rtlCol="0" anchor="t">
            <a:spAutoFit/>
          </a:bodyPr>
          <a:lstStyle/>
          <a:p>
            <a:pPr algn="l">
              <a:lnSpc>
                <a:spcPts val="4759"/>
              </a:lnSpc>
              <a:spcBef>
                <a:spcPct val="0"/>
              </a:spcBef>
            </a:pPr>
            <a:r>
              <a:rPr lang="en-US" sz="3600" b="1" dirty="0">
                <a:solidFill>
                  <a:srgbClr val="000000"/>
                </a:solidFill>
                <a:latin typeface="Garet Bold"/>
                <a:ea typeface="Garet Bold"/>
                <a:cs typeface="Garet Bold"/>
                <a:sym typeface="Garet Bold"/>
              </a:rPr>
              <a:t>Hamza’s progress</a:t>
            </a:r>
          </a:p>
        </p:txBody>
      </p:sp>
      <p:sp>
        <p:nvSpPr>
          <p:cNvPr id="26" name="TextBox 26">
            <a:extLst>
              <a:ext uri="{FF2B5EF4-FFF2-40B4-BE49-F238E27FC236}">
                <a16:creationId xmlns:a16="http://schemas.microsoft.com/office/drawing/2014/main" id="{3D0F4C9E-60AB-9AEA-F7EF-2DFD24602E48}"/>
              </a:ext>
            </a:extLst>
          </p:cNvPr>
          <p:cNvSpPr txBox="1"/>
          <p:nvPr/>
        </p:nvSpPr>
        <p:spPr>
          <a:xfrm>
            <a:off x="750596" y="2414334"/>
            <a:ext cx="4632610" cy="2298963"/>
          </a:xfrm>
          <a:prstGeom prst="rect">
            <a:avLst/>
          </a:prstGeom>
        </p:spPr>
        <p:txBody>
          <a:bodyPr lIns="0" tIns="0" rIns="0" bIns="0" rtlCol="0" anchor="t">
            <a:spAutoFit/>
          </a:bodyPr>
          <a:lstStyle/>
          <a:p>
            <a:pPr algn="l">
              <a:lnSpc>
                <a:spcPts val="2239"/>
              </a:lnSpc>
            </a:pPr>
            <a:r>
              <a:rPr lang="en-US" sz="3200" b="1" dirty="0">
                <a:solidFill>
                  <a:srgbClr val="000000"/>
                </a:solidFill>
                <a:latin typeface="Garet Bold"/>
                <a:ea typeface="Garet Bold"/>
                <a:cs typeface="Garet Bold"/>
                <a:sym typeface="Garet Bold"/>
              </a:rPr>
              <a:t>Time frame:</a:t>
            </a:r>
          </a:p>
          <a:p>
            <a:pPr algn="l">
              <a:lnSpc>
                <a:spcPts val="2239"/>
              </a:lnSpc>
            </a:pPr>
            <a:endParaRPr lang="en-US" sz="3200" b="1" dirty="0">
              <a:solidFill>
                <a:srgbClr val="000000"/>
              </a:solidFill>
              <a:latin typeface="Garet Bold"/>
              <a:ea typeface="Garet Bold"/>
              <a:cs typeface="Garet Bold"/>
              <a:sym typeface="Garet Bold"/>
            </a:endParaRPr>
          </a:p>
          <a:p>
            <a:pPr algn="l">
              <a:lnSpc>
                <a:spcPts val="2239"/>
              </a:lnSpc>
            </a:pPr>
            <a:r>
              <a:rPr lang="en-US" sz="3200" dirty="0">
                <a:solidFill>
                  <a:srgbClr val="000000"/>
                </a:solidFill>
                <a:latin typeface="Garet"/>
                <a:ea typeface="Garet"/>
                <a:cs typeface="Garet"/>
                <a:sym typeface="Garet"/>
              </a:rPr>
              <a:t>Weeks 1-3</a:t>
            </a:r>
          </a:p>
          <a:p>
            <a:pPr algn="l">
              <a:lnSpc>
                <a:spcPts val="2239"/>
              </a:lnSpc>
            </a:pPr>
            <a:endParaRPr lang="en-US" sz="3200" dirty="0">
              <a:solidFill>
                <a:srgbClr val="000000"/>
              </a:solidFill>
              <a:latin typeface="Garet"/>
              <a:ea typeface="Garet"/>
              <a:cs typeface="Garet"/>
              <a:sym typeface="Garet"/>
            </a:endParaRPr>
          </a:p>
          <a:p>
            <a:pPr algn="l">
              <a:lnSpc>
                <a:spcPts val="2239"/>
              </a:lnSpc>
            </a:pPr>
            <a:endParaRPr lang="en-US" sz="3200" dirty="0">
              <a:solidFill>
                <a:srgbClr val="000000"/>
              </a:solidFill>
              <a:latin typeface="Garet"/>
              <a:ea typeface="Garet"/>
              <a:cs typeface="Garet"/>
              <a:sym typeface="Garet"/>
            </a:endParaRPr>
          </a:p>
          <a:p>
            <a:pPr>
              <a:lnSpc>
                <a:spcPts val="2239"/>
              </a:lnSpc>
            </a:pPr>
            <a:r>
              <a:rPr lang="en-US" sz="3200" b="1" dirty="0">
                <a:solidFill>
                  <a:srgbClr val="000000"/>
                </a:solidFill>
                <a:latin typeface="Garet"/>
                <a:ea typeface="Garet"/>
                <a:cs typeface="Garet"/>
                <a:sym typeface="Garet"/>
              </a:rPr>
              <a:t>Main role: </a:t>
            </a:r>
          </a:p>
          <a:p>
            <a:pPr>
              <a:lnSpc>
                <a:spcPts val="2239"/>
              </a:lnSpc>
            </a:pPr>
            <a:endParaRPr lang="en-US" sz="3200" b="1" dirty="0">
              <a:solidFill>
                <a:srgbClr val="000000"/>
              </a:solidFill>
              <a:latin typeface="Garet"/>
              <a:ea typeface="Garet"/>
              <a:cs typeface="Garet"/>
              <a:sym typeface="Garet"/>
            </a:endParaRPr>
          </a:p>
          <a:p>
            <a:pPr>
              <a:lnSpc>
                <a:spcPts val="2239"/>
              </a:lnSpc>
            </a:pPr>
            <a:r>
              <a:rPr lang="en-US" sz="3200" dirty="0">
                <a:effectLst/>
                <a:latin typeface="Aptos" panose="020B0004020202020204" pitchFamily="34" charset="0"/>
                <a:ea typeface="Aptos" panose="020B0004020202020204" pitchFamily="34" charset="0"/>
                <a:cs typeface="Arial" panose="020B0604020202020204" pitchFamily="34" charset="0"/>
              </a:rPr>
              <a:t>Gripper</a:t>
            </a:r>
            <a:r>
              <a:rPr lang="en-US" sz="3200" dirty="0">
                <a:latin typeface="Aptos" panose="020B0004020202020204" pitchFamily="34" charset="0"/>
                <a:ea typeface="Aptos" panose="020B0004020202020204" pitchFamily="34" charset="0"/>
                <a:cs typeface="Arial" panose="020B0604020202020204" pitchFamily="34" charset="0"/>
              </a:rPr>
              <a:t>(</a:t>
            </a:r>
            <a:r>
              <a:rPr lang="en-US" sz="3200" dirty="0">
                <a:effectLst/>
                <a:latin typeface="Aptos" panose="020B0004020202020204" pitchFamily="34" charset="0"/>
                <a:ea typeface="Aptos" panose="020B0004020202020204" pitchFamily="34" charset="0"/>
                <a:cs typeface="Arial" panose="020B0604020202020204" pitchFamily="34" charset="0"/>
              </a:rPr>
              <a:t>pneumatic)</a:t>
            </a:r>
            <a:endParaRPr lang="en-US" sz="3200" dirty="0">
              <a:solidFill>
                <a:srgbClr val="000000"/>
              </a:solidFill>
              <a:latin typeface="Garet"/>
              <a:ea typeface="Garet"/>
              <a:cs typeface="Garet"/>
              <a:sym typeface="Garet"/>
            </a:endParaRPr>
          </a:p>
        </p:txBody>
      </p:sp>
      <p:sp>
        <p:nvSpPr>
          <p:cNvPr id="29" name="TextBox 29">
            <a:extLst>
              <a:ext uri="{FF2B5EF4-FFF2-40B4-BE49-F238E27FC236}">
                <a16:creationId xmlns:a16="http://schemas.microsoft.com/office/drawing/2014/main" id="{2762D6E2-23B5-CE28-21EE-E14C93D3D3F5}"/>
              </a:ext>
            </a:extLst>
          </p:cNvPr>
          <p:cNvSpPr txBox="1"/>
          <p:nvPr/>
        </p:nvSpPr>
        <p:spPr>
          <a:xfrm>
            <a:off x="10125791" y="813379"/>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Evidence (show, don’t tell)</a:t>
            </a:r>
          </a:p>
        </p:txBody>
      </p:sp>
      <p:sp>
        <p:nvSpPr>
          <p:cNvPr id="30" name="TextBox 30">
            <a:extLst>
              <a:ext uri="{FF2B5EF4-FFF2-40B4-BE49-F238E27FC236}">
                <a16:creationId xmlns:a16="http://schemas.microsoft.com/office/drawing/2014/main" id="{C5840A89-5061-9618-9CA2-DD9229E85B38}"/>
              </a:ext>
            </a:extLst>
          </p:cNvPr>
          <p:cNvSpPr txBox="1"/>
          <p:nvPr/>
        </p:nvSpPr>
        <p:spPr>
          <a:xfrm>
            <a:off x="6583504" y="1699701"/>
            <a:ext cx="2869784" cy="769441"/>
          </a:xfrm>
          <a:prstGeom prst="rect">
            <a:avLst/>
          </a:prstGeom>
        </p:spPr>
        <p:txBody>
          <a:bodyPr lIns="0" tIns="0" rIns="0" bIns="0" rtlCol="0" anchor="t">
            <a:spAutoFit/>
          </a:bodyPr>
          <a:lstStyle/>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p:txBody>
      </p:sp>
      <p:sp>
        <p:nvSpPr>
          <p:cNvPr id="31" name="TextBox 31">
            <a:extLst>
              <a:ext uri="{FF2B5EF4-FFF2-40B4-BE49-F238E27FC236}">
                <a16:creationId xmlns:a16="http://schemas.microsoft.com/office/drawing/2014/main" id="{7A131639-481C-3B37-9C51-9B64906A3B6B}"/>
              </a:ext>
            </a:extLst>
          </p:cNvPr>
          <p:cNvSpPr txBox="1"/>
          <p:nvPr/>
        </p:nvSpPr>
        <p:spPr>
          <a:xfrm>
            <a:off x="10466090" y="1669806"/>
            <a:ext cx="6747089" cy="239681"/>
          </a:xfrm>
          <a:prstGeom prst="rect">
            <a:avLst/>
          </a:prstGeom>
        </p:spPr>
        <p:txBody>
          <a:bodyPr lIns="0" tIns="0" rIns="0" bIns="0" rtlCol="0" anchor="t">
            <a:spAutoFit/>
          </a:bodyPr>
          <a:lstStyle/>
          <a:p>
            <a:pPr algn="l">
              <a:lnSpc>
                <a:spcPts val="1959"/>
              </a:lnSpc>
            </a:pPr>
            <a:endParaRPr lang="en-US" sz="1400" dirty="0">
              <a:solidFill>
                <a:srgbClr val="000000"/>
              </a:solidFill>
              <a:latin typeface="Garet Light"/>
              <a:ea typeface="Garet Light"/>
              <a:cs typeface="Garet Light"/>
              <a:sym typeface="Garet Light"/>
            </a:endParaRPr>
          </a:p>
        </p:txBody>
      </p:sp>
      <p:sp>
        <p:nvSpPr>
          <p:cNvPr id="33" name="TextBox 33">
            <a:extLst>
              <a:ext uri="{FF2B5EF4-FFF2-40B4-BE49-F238E27FC236}">
                <a16:creationId xmlns:a16="http://schemas.microsoft.com/office/drawing/2014/main" id="{47363026-7EBE-4B5E-B0A6-E7A0FC36F66D}"/>
              </a:ext>
            </a:extLst>
          </p:cNvPr>
          <p:cNvSpPr txBox="1"/>
          <p:nvPr/>
        </p:nvSpPr>
        <p:spPr>
          <a:xfrm>
            <a:off x="6159603"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Next Week Plan</a:t>
            </a:r>
          </a:p>
        </p:txBody>
      </p:sp>
      <p:sp>
        <p:nvSpPr>
          <p:cNvPr id="35" name="TextBox 35">
            <a:extLst>
              <a:ext uri="{FF2B5EF4-FFF2-40B4-BE49-F238E27FC236}">
                <a16:creationId xmlns:a16="http://schemas.microsoft.com/office/drawing/2014/main" id="{AAD8C30B-DBC8-0296-BC2F-5FA368B7EFF7}"/>
              </a:ext>
            </a:extLst>
          </p:cNvPr>
          <p:cNvSpPr txBox="1"/>
          <p:nvPr/>
        </p:nvSpPr>
        <p:spPr>
          <a:xfrm>
            <a:off x="10125791"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In Progress</a:t>
            </a:r>
          </a:p>
        </p:txBody>
      </p:sp>
      <p:sp>
        <p:nvSpPr>
          <p:cNvPr id="37" name="TextBox 37">
            <a:extLst>
              <a:ext uri="{FF2B5EF4-FFF2-40B4-BE49-F238E27FC236}">
                <a16:creationId xmlns:a16="http://schemas.microsoft.com/office/drawing/2014/main" id="{69FAE6A7-4BB3-2B53-6727-7CDC73016936}"/>
              </a:ext>
            </a:extLst>
          </p:cNvPr>
          <p:cNvSpPr txBox="1"/>
          <p:nvPr/>
        </p:nvSpPr>
        <p:spPr>
          <a:xfrm>
            <a:off x="14003096" y="5166178"/>
            <a:ext cx="3550383" cy="1093826"/>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Help Needed / Questions</a:t>
            </a:r>
          </a:p>
          <a:p>
            <a:pPr>
              <a:lnSpc>
                <a:spcPts val="2940"/>
              </a:lnSpc>
              <a:spcBef>
                <a:spcPct val="0"/>
              </a:spcBef>
            </a:pPr>
            <a:endParaRPr lang="en-US" sz="2400" b="1" dirty="0">
              <a:solidFill>
                <a:srgbClr val="000000"/>
              </a:solidFill>
              <a:latin typeface="Garet Bold"/>
              <a:ea typeface="Garet Bold"/>
              <a:cs typeface="Garet Bold"/>
              <a:sym typeface="Garet Bold"/>
            </a:endParaRPr>
          </a:p>
          <a:p>
            <a:pPr>
              <a:lnSpc>
                <a:spcPts val="2940"/>
              </a:lnSpc>
              <a:spcBef>
                <a:spcPct val="0"/>
              </a:spcBef>
            </a:pPr>
            <a:endParaRPr lang="en-US" sz="2400" b="1" dirty="0">
              <a:solidFill>
                <a:srgbClr val="000000"/>
              </a:solidFill>
              <a:latin typeface="Garet Bold"/>
              <a:ea typeface="Garet Bold"/>
              <a:cs typeface="Garet Bold"/>
              <a:sym typeface="Garet Bold"/>
            </a:endParaRPr>
          </a:p>
        </p:txBody>
      </p:sp>
      <p:sp>
        <p:nvSpPr>
          <p:cNvPr id="41" name="AutoShape 8">
            <a:extLst>
              <a:ext uri="{FF2B5EF4-FFF2-40B4-BE49-F238E27FC236}">
                <a16:creationId xmlns:a16="http://schemas.microsoft.com/office/drawing/2014/main" id="{76B8509F-080A-3773-AD72-0D3821539C69}"/>
              </a:ext>
            </a:extLst>
          </p:cNvPr>
          <p:cNvSpPr/>
          <p:nvPr/>
        </p:nvSpPr>
        <p:spPr>
          <a:xfrm>
            <a:off x="14062116" y="5781065"/>
            <a:ext cx="3550383" cy="3634329"/>
          </a:xfrm>
          <a:prstGeom prst="rect">
            <a:avLst/>
          </a:prstGeom>
          <a:solidFill>
            <a:srgbClr val="F3F8FF"/>
          </a:solidFill>
        </p:spPr>
        <p:txBody>
          <a:bodyPr/>
          <a:lstStyle/>
          <a:p>
            <a:r>
              <a:rPr lang="en-US" sz="2000" dirty="0"/>
              <a:t>Confirm compressor pressure and specifications.</a:t>
            </a:r>
          </a:p>
          <a:p>
            <a:r>
              <a:rPr lang="en-US" sz="2000" b="0" i="0" dirty="0">
                <a:solidFill>
                  <a:srgbClr val="111111"/>
                </a:solidFill>
                <a:effectLst/>
                <a:latin typeface="ui-sans-serif"/>
              </a:rPr>
              <a:t>Instruction on how to set the solenoid valve to the microcontroller.</a:t>
            </a:r>
            <a:r>
              <a:rPr lang="en-US" sz="2000" dirty="0"/>
              <a:t>.</a:t>
            </a:r>
          </a:p>
          <a:p>
            <a:r>
              <a:rPr lang="en-US" sz="2000" dirty="0"/>
              <a:t>Verify compatibility with the robotic arm mounting interface.</a:t>
            </a:r>
          </a:p>
        </p:txBody>
      </p:sp>
      <p:pic>
        <p:nvPicPr>
          <p:cNvPr id="1026" name="Picture 2" descr="‪Stainless Steel Light Duty Mechanical Pneumatic Gripper, For Lifting at ₹  30000/unit in Coimbatore‬‏">
            <a:extLst>
              <a:ext uri="{FF2B5EF4-FFF2-40B4-BE49-F238E27FC236}">
                <a16:creationId xmlns:a16="http://schemas.microsoft.com/office/drawing/2014/main" id="{5FE2A731-EFAB-F923-94CE-B308245CB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6090" y="1669806"/>
            <a:ext cx="2508048" cy="28765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8">
            <a:extLst>
              <a:ext uri="{FF2B5EF4-FFF2-40B4-BE49-F238E27FC236}">
                <a16:creationId xmlns:a16="http://schemas.microsoft.com/office/drawing/2014/main" id="{356CA158-9D4E-B480-898A-96704ABF9D2A}"/>
              </a:ext>
            </a:extLst>
          </p:cNvPr>
          <p:cNvSpPr>
            <a:spLocks noChangeArrowheads="1"/>
          </p:cNvSpPr>
          <p:nvPr/>
        </p:nvSpPr>
        <p:spPr bwMode="auto">
          <a:xfrm>
            <a:off x="6368481" y="1713107"/>
            <a:ext cx="332675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Carried out the first study regarding pneumatic gripper mechanisms that could be used in pick-and-place robotic arms</a:t>
            </a:r>
            <a:r>
              <a:rPr lang="en-US" altLang="en-US" dirty="0">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FontTx/>
              <a:buChar char="•"/>
            </a:pPr>
            <a:r>
              <a:rPr lang="en-US" dirty="0"/>
              <a:t>Researched on various pneumatic actuation techniques such as single-acting and double-acting cylinders in gripping motion.</a:t>
            </a:r>
          </a:p>
          <a:p>
            <a:pPr lvl="0" eaLnBrk="0" fontAlgn="base" hangingPunct="0">
              <a:spcBef>
                <a:spcPct val="0"/>
              </a:spcBef>
              <a:spcAft>
                <a:spcPct val="0"/>
              </a:spcAft>
              <a:buFontTx/>
              <a:buChar char="•"/>
            </a:pPr>
            <a:r>
              <a:rPr lang="en-US" dirty="0"/>
              <a:t>Examined important aspects of pneumatic component. </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1">
            <a:extLst>
              <a:ext uri="{FF2B5EF4-FFF2-40B4-BE49-F238E27FC236}">
                <a16:creationId xmlns:a16="http://schemas.microsoft.com/office/drawing/2014/main" id="{D2815F83-781D-6BA9-17F2-C2CCAE63EC34}"/>
              </a:ext>
            </a:extLst>
          </p:cNvPr>
          <p:cNvSpPr>
            <a:spLocks noChangeArrowheads="1"/>
          </p:cNvSpPr>
          <p:nvPr/>
        </p:nvSpPr>
        <p:spPr bwMode="auto">
          <a:xfrm rot="10800000" flipV="1">
            <a:off x="10082334" y="5601526"/>
            <a:ext cx="330313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compare the various types of pneumatic cylinders and gripper designs in order to come up with the best suited one to use in the robotic arm.</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FontTx/>
              <a:buChar char="•"/>
            </a:pPr>
            <a:r>
              <a:rPr lang="en-US" dirty="0"/>
              <a:t>To determine the range of pressure and amount of air needed to be dependable in gripping.</a:t>
            </a:r>
          </a:p>
          <a:p>
            <a:pPr lvl="0" eaLnBrk="0" fontAlgn="base" hangingPunct="0">
              <a:spcBef>
                <a:spcPct val="0"/>
              </a:spcBef>
              <a:spcAft>
                <a:spcPct val="0"/>
              </a:spcAft>
              <a:buFontTx/>
              <a:buChar char="•"/>
            </a:pPr>
            <a:r>
              <a:rPr lang="en-US" dirty="0"/>
              <a:t>The development of a simple gripper framework which can fit the robotic arm end-effector</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5" name="Rectangle 12">
            <a:extLst>
              <a:ext uri="{FF2B5EF4-FFF2-40B4-BE49-F238E27FC236}">
                <a16:creationId xmlns:a16="http://schemas.microsoft.com/office/drawing/2014/main" id="{FB301367-D9CA-4581-C518-7F1BE5107634}"/>
              </a:ext>
            </a:extLst>
          </p:cNvPr>
          <p:cNvSpPr>
            <a:spLocks noChangeArrowheads="1"/>
          </p:cNvSpPr>
          <p:nvPr/>
        </p:nvSpPr>
        <p:spPr bwMode="auto">
          <a:xfrm>
            <a:off x="6371510" y="6170754"/>
            <a:ext cx="329377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Complete pneumatic cylinder and gripper</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lvl="0" eaLnBrk="0" fontAlgn="base" hangingPunct="0">
              <a:spcBef>
                <a:spcPct val="0"/>
              </a:spcBef>
              <a:spcAft>
                <a:spcPct val="0"/>
              </a:spcAft>
              <a:buFontTx/>
              <a:buChar char="•"/>
            </a:pPr>
            <a:r>
              <a:rPr lang="en-US" dirty="0"/>
              <a:t>Make a detailed list of pneumatic parts to be bought</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Begin CAD design of the gripper mechanism and mounting interface with the robotic arm.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Evaluate the integration of solenoid valve control with the microcontroller.</a:t>
            </a:r>
          </a:p>
        </p:txBody>
      </p:sp>
      <p:sp>
        <p:nvSpPr>
          <p:cNvPr id="17" name="AutoShape 8">
            <a:extLst>
              <a:ext uri="{FF2B5EF4-FFF2-40B4-BE49-F238E27FC236}">
                <a16:creationId xmlns:a16="http://schemas.microsoft.com/office/drawing/2014/main" id="{76B8509F-080A-3773-AD72-0D3821539C69}"/>
              </a:ext>
            </a:extLst>
          </p:cNvPr>
          <p:cNvSpPr/>
          <p:nvPr/>
        </p:nvSpPr>
        <p:spPr>
          <a:xfrm flipV="1">
            <a:off x="14062116" y="5735346"/>
            <a:ext cx="3550383" cy="45719"/>
          </a:xfrm>
          <a:prstGeom prst="rect">
            <a:avLst/>
          </a:prstGeom>
          <a:solidFill>
            <a:srgbClr val="F3F8FF"/>
          </a:solidFill>
        </p:spPr>
        <p:txBody>
          <a:bodyPr/>
          <a:lstStyle/>
          <a:p>
            <a:endParaRPr lang="en-AE" sz="2000"/>
          </a:p>
        </p:txBody>
      </p:sp>
      <p:pic>
        <p:nvPicPr>
          <p:cNvPr id="3" name="Picture 2" descr="Vacuum Gripper">
            <a:extLst>
              <a:ext uri="{FF2B5EF4-FFF2-40B4-BE49-F238E27FC236}">
                <a16:creationId xmlns:a16="http://schemas.microsoft.com/office/drawing/2014/main" id="{ABCD6FD9-BC53-CAB9-30A0-ACE6CA38A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7625" y="1967197"/>
            <a:ext cx="4227115" cy="2288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81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2F69B-FAB3-8C97-5A94-BB2C9E73F48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666C954-B532-8307-A942-F2E896B3F864}"/>
              </a:ext>
            </a:extLst>
          </p:cNvPr>
          <p:cNvSpPr/>
          <p:nvPr/>
        </p:nvSpPr>
        <p:spPr>
          <a:xfrm>
            <a:off x="6243203" y="813379"/>
            <a:ext cx="4007104" cy="4743691"/>
          </a:xfrm>
          <a:prstGeom prst="rect">
            <a:avLst/>
          </a:prstGeom>
          <a:solidFill>
            <a:srgbClr val="F3F8FF"/>
          </a:solidFill>
        </p:spPr>
        <p:txBody>
          <a:bodyPr/>
          <a:lstStyle/>
          <a:p>
            <a:pPr lvl="0" eaLnBrk="0" fontAlgn="base" hangingPunct="0">
              <a:spcBef>
                <a:spcPct val="0"/>
              </a:spcBef>
              <a:spcAft>
                <a:spcPct val="0"/>
              </a:spcAft>
            </a:pPr>
            <a:endParaRPr lang="en-US" altLang="en-US" sz="20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Defined a 5-DOF actuator configuration, where each actuator controls motion in a different axis. </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Combined Actuator 2 and 3 to increase force and improve the ability to lift heavier loads. </a:t>
            </a:r>
          </a:p>
          <a:p>
            <a:pPr marL="342900" indent="-342900">
              <a:buFont typeface="Arial" panose="020B0604020202020204" pitchFamily="34" charset="0"/>
              <a:buChar char="•"/>
            </a:pPr>
            <a:r>
              <a:rPr lang="en-US" altLang="en-US" sz="2000" dirty="0">
                <a:latin typeface="Arial" panose="020B0604020202020204" pitchFamily="34" charset="0"/>
              </a:rPr>
              <a:t>Selected a high-torque servo motor with encoder for accurate and reliable control.</a:t>
            </a:r>
          </a:p>
          <a:p>
            <a:pPr marL="342900" indent="-342900">
              <a:buFont typeface="Arial" panose="020B0604020202020204" pitchFamily="34" charset="0"/>
              <a:buChar char="•"/>
            </a:pPr>
            <a:r>
              <a:rPr lang="en-US" sz="2000" dirty="0"/>
              <a:t>Performed </a:t>
            </a:r>
            <a:r>
              <a:rPr lang="en-US" sz="2000" b="1" dirty="0"/>
              <a:t>detailed torque calculations for each actuator</a:t>
            </a:r>
            <a:r>
              <a:rPr lang="en-US" sz="2000" dirty="0"/>
              <a:t> based on arm dimensions and expected loads.</a:t>
            </a:r>
            <a:r>
              <a:rPr lang="en-US" altLang="en-US" sz="2000" dirty="0">
                <a:latin typeface="Arial" panose="020B0604020202020204" pitchFamily="34" charset="0"/>
              </a:rPr>
              <a:t> </a:t>
            </a:r>
          </a:p>
          <a:p>
            <a:endParaRPr lang="en-AE" sz="2000" dirty="0"/>
          </a:p>
        </p:txBody>
      </p:sp>
      <p:sp>
        <p:nvSpPr>
          <p:cNvPr id="4" name="TextBox 4">
            <a:extLst>
              <a:ext uri="{FF2B5EF4-FFF2-40B4-BE49-F238E27FC236}">
                <a16:creationId xmlns:a16="http://schemas.microsoft.com/office/drawing/2014/main" id="{553DA7AB-5F6F-2B9E-245C-3B0DD3C44A2C}"/>
              </a:ext>
            </a:extLst>
          </p:cNvPr>
          <p:cNvSpPr txBox="1"/>
          <p:nvPr/>
        </p:nvSpPr>
        <p:spPr>
          <a:xfrm>
            <a:off x="6353842" y="346287"/>
            <a:ext cx="3550383" cy="732060"/>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Accomplished (since last report)</a:t>
            </a:r>
          </a:p>
        </p:txBody>
      </p:sp>
      <p:sp>
        <p:nvSpPr>
          <p:cNvPr id="6" name="AutoShape 6">
            <a:extLst>
              <a:ext uri="{FF2B5EF4-FFF2-40B4-BE49-F238E27FC236}">
                <a16:creationId xmlns:a16="http://schemas.microsoft.com/office/drawing/2014/main" id="{6E189F4E-8A9E-8D5B-00A8-BDA62663983B}"/>
              </a:ext>
            </a:extLst>
          </p:cNvPr>
          <p:cNvSpPr/>
          <p:nvPr/>
        </p:nvSpPr>
        <p:spPr>
          <a:xfrm>
            <a:off x="10557694" y="1461982"/>
            <a:ext cx="7427688" cy="3411937"/>
          </a:xfrm>
          <a:prstGeom prst="rect">
            <a:avLst/>
          </a:prstGeom>
          <a:solidFill>
            <a:srgbClr val="F3F8FF"/>
          </a:solidFill>
        </p:spPr>
        <p:txBody>
          <a:bodyPr/>
          <a:lstStyle/>
          <a:p>
            <a:endParaRPr lang="en-AE" sz="2000"/>
          </a:p>
        </p:txBody>
      </p:sp>
      <p:sp>
        <p:nvSpPr>
          <p:cNvPr id="7" name="AutoShape 7">
            <a:extLst>
              <a:ext uri="{FF2B5EF4-FFF2-40B4-BE49-F238E27FC236}">
                <a16:creationId xmlns:a16="http://schemas.microsoft.com/office/drawing/2014/main" id="{49167AAB-1CC2-0712-DBF7-8942379E10DA}"/>
              </a:ext>
            </a:extLst>
          </p:cNvPr>
          <p:cNvSpPr/>
          <p:nvPr/>
        </p:nvSpPr>
        <p:spPr>
          <a:xfrm>
            <a:off x="9542228" y="6277115"/>
            <a:ext cx="3550383" cy="3129347"/>
          </a:xfrm>
          <a:prstGeom prst="rect">
            <a:avLst/>
          </a:prstGeom>
          <a:solidFill>
            <a:srgbClr val="F3F8FF"/>
          </a:solidFill>
        </p:spPr>
        <p:txBody>
          <a:bodyPr/>
          <a:lstStyle/>
          <a:p>
            <a:pPr lvl="0" eaLnBrk="0" fontAlgn="base" hangingPunct="0">
              <a:spcBef>
                <a:spcPct val="0"/>
              </a:spcBef>
              <a:spcAft>
                <a:spcPct val="0"/>
              </a:spcAft>
              <a:buFontTx/>
              <a:buChar char="•"/>
            </a:pPr>
            <a:endParaRPr lang="en-US" altLang="en-US" sz="20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Calculating the required torque for each actuator. </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Arial" panose="020B0604020202020204" pitchFamily="34" charset="0"/>
            </a:endParaRPr>
          </a:p>
          <a:p>
            <a:pPr marL="342900" indent="-342900">
              <a:buFont typeface="Arial" panose="020B0604020202020204" pitchFamily="34" charset="0"/>
              <a:buChar char="•"/>
            </a:pPr>
            <a:r>
              <a:rPr lang="en-US" sz="2000" dirty="0"/>
              <a:t>Studying integration of actuators with Arduino and ROS2 control system </a:t>
            </a:r>
          </a:p>
        </p:txBody>
      </p:sp>
      <p:sp>
        <p:nvSpPr>
          <p:cNvPr id="8" name="AutoShape 8">
            <a:extLst>
              <a:ext uri="{FF2B5EF4-FFF2-40B4-BE49-F238E27FC236}">
                <a16:creationId xmlns:a16="http://schemas.microsoft.com/office/drawing/2014/main" id="{8E0EE25A-2C5F-FA77-2804-8F083BA02E27}"/>
              </a:ext>
            </a:extLst>
          </p:cNvPr>
          <p:cNvSpPr/>
          <p:nvPr/>
        </p:nvSpPr>
        <p:spPr>
          <a:xfrm>
            <a:off x="5346335" y="6277116"/>
            <a:ext cx="3550383" cy="3129347"/>
          </a:xfrm>
          <a:prstGeom prst="rect">
            <a:avLst/>
          </a:prstGeom>
          <a:solidFill>
            <a:srgbClr val="F3F8FF"/>
          </a:solidFill>
        </p:spPr>
        <p:txBody>
          <a:bodyPr/>
          <a:lstStyle/>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Finalize actuator specifications based on torque requirements </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Select suitable motor drivers for the chosen actuators </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Begin hardware integration planning </a:t>
            </a:r>
          </a:p>
          <a:p>
            <a:pPr marL="285750" indent="-285750">
              <a:buFont typeface="Arial" panose="020B0604020202020204" pitchFamily="34" charset="0"/>
              <a:buChar char="•"/>
            </a:pPr>
            <a:endParaRPr lang="en-AE" dirty="0">
              <a:latin typeface="Times New Roman" panose="02020603050405020304" pitchFamily="18" charset="0"/>
              <a:cs typeface="Times New Roman" panose="02020603050405020304" pitchFamily="18" charset="0"/>
            </a:endParaRPr>
          </a:p>
        </p:txBody>
      </p:sp>
      <p:sp>
        <p:nvSpPr>
          <p:cNvPr id="25" name="TextBox 25">
            <a:extLst>
              <a:ext uri="{FF2B5EF4-FFF2-40B4-BE49-F238E27FC236}">
                <a16:creationId xmlns:a16="http://schemas.microsoft.com/office/drawing/2014/main" id="{6654950B-40B5-B8F9-2F3F-E2FA81B48CE8}"/>
              </a:ext>
            </a:extLst>
          </p:cNvPr>
          <p:cNvSpPr txBox="1"/>
          <p:nvPr/>
        </p:nvSpPr>
        <p:spPr>
          <a:xfrm>
            <a:off x="750596" y="794329"/>
            <a:ext cx="4762914" cy="583558"/>
          </a:xfrm>
          <a:prstGeom prst="rect">
            <a:avLst/>
          </a:prstGeom>
        </p:spPr>
        <p:txBody>
          <a:bodyPr lIns="0" tIns="0" rIns="0" bIns="0" rtlCol="0" anchor="t">
            <a:spAutoFit/>
          </a:bodyPr>
          <a:lstStyle/>
          <a:p>
            <a:pPr algn="l">
              <a:lnSpc>
                <a:spcPts val="4759"/>
              </a:lnSpc>
              <a:spcBef>
                <a:spcPct val="0"/>
              </a:spcBef>
            </a:pPr>
            <a:r>
              <a:rPr lang="en-US" sz="3600" b="1" dirty="0">
                <a:solidFill>
                  <a:srgbClr val="000000"/>
                </a:solidFill>
                <a:latin typeface="Garet Bold"/>
                <a:ea typeface="Garet Bold"/>
                <a:cs typeface="Garet Bold"/>
                <a:sym typeface="Garet Bold"/>
              </a:rPr>
              <a:t>Khaled's progress</a:t>
            </a:r>
          </a:p>
        </p:txBody>
      </p:sp>
      <p:sp>
        <p:nvSpPr>
          <p:cNvPr id="26" name="TextBox 26">
            <a:extLst>
              <a:ext uri="{FF2B5EF4-FFF2-40B4-BE49-F238E27FC236}">
                <a16:creationId xmlns:a16="http://schemas.microsoft.com/office/drawing/2014/main" id="{753504B9-DD9C-B35F-10EE-975EF08C7DA5}"/>
              </a:ext>
            </a:extLst>
          </p:cNvPr>
          <p:cNvSpPr txBox="1"/>
          <p:nvPr/>
        </p:nvSpPr>
        <p:spPr>
          <a:xfrm>
            <a:off x="750596" y="2414334"/>
            <a:ext cx="4632610" cy="2677656"/>
          </a:xfrm>
          <a:prstGeom prst="rect">
            <a:avLst/>
          </a:prstGeom>
        </p:spPr>
        <p:txBody>
          <a:bodyPr lIns="0" tIns="0" rIns="0" bIns="0" rtlCol="0" anchor="t">
            <a:spAutoFit/>
          </a:bodyPr>
          <a:lstStyle/>
          <a:p>
            <a:pPr algn="l">
              <a:lnSpc>
                <a:spcPts val="2239"/>
              </a:lnSpc>
            </a:pPr>
            <a:r>
              <a:rPr lang="en-US" sz="3200" b="1" dirty="0">
                <a:solidFill>
                  <a:srgbClr val="000000"/>
                </a:solidFill>
                <a:latin typeface="Garet Bold"/>
                <a:ea typeface="Garet Bold"/>
                <a:cs typeface="Garet Bold"/>
                <a:sym typeface="Garet Bold"/>
              </a:rPr>
              <a:t>Time frame:</a:t>
            </a:r>
          </a:p>
          <a:p>
            <a:pPr algn="l">
              <a:lnSpc>
                <a:spcPts val="2239"/>
              </a:lnSpc>
            </a:pPr>
            <a:endParaRPr lang="en-US" sz="3200" b="1" dirty="0">
              <a:solidFill>
                <a:srgbClr val="000000"/>
              </a:solidFill>
              <a:latin typeface="Garet Bold"/>
              <a:ea typeface="Garet Bold"/>
              <a:cs typeface="Garet Bold"/>
              <a:sym typeface="Garet Bold"/>
            </a:endParaRPr>
          </a:p>
          <a:p>
            <a:pPr algn="l">
              <a:lnSpc>
                <a:spcPts val="2239"/>
              </a:lnSpc>
            </a:pPr>
            <a:r>
              <a:rPr lang="en-US" sz="3200" dirty="0">
                <a:solidFill>
                  <a:srgbClr val="000000"/>
                </a:solidFill>
                <a:latin typeface="Garet"/>
                <a:ea typeface="Garet"/>
                <a:cs typeface="Garet"/>
                <a:sym typeface="Garet"/>
              </a:rPr>
              <a:t>Week 4</a:t>
            </a:r>
          </a:p>
          <a:p>
            <a:pPr algn="l">
              <a:lnSpc>
                <a:spcPts val="2239"/>
              </a:lnSpc>
            </a:pPr>
            <a:endParaRPr lang="en-US" sz="3200" dirty="0">
              <a:solidFill>
                <a:srgbClr val="000000"/>
              </a:solidFill>
              <a:latin typeface="Garet"/>
              <a:ea typeface="Garet"/>
              <a:cs typeface="Garet"/>
              <a:sym typeface="Garet"/>
            </a:endParaRPr>
          </a:p>
          <a:p>
            <a:pPr>
              <a:lnSpc>
                <a:spcPts val="2239"/>
              </a:lnSpc>
            </a:pPr>
            <a:r>
              <a:rPr lang="en-US" sz="3200" b="1" dirty="0">
                <a:solidFill>
                  <a:srgbClr val="000000"/>
                </a:solidFill>
                <a:latin typeface="Garet"/>
                <a:ea typeface="Garet"/>
                <a:cs typeface="Garet"/>
                <a:sym typeface="Garet"/>
              </a:rPr>
              <a:t>Main role: </a:t>
            </a:r>
          </a:p>
          <a:p>
            <a:pPr>
              <a:lnSpc>
                <a:spcPts val="2239"/>
              </a:lnSpc>
            </a:pPr>
            <a:endParaRPr lang="en-US" sz="3200" b="1" dirty="0">
              <a:solidFill>
                <a:srgbClr val="000000"/>
              </a:solidFill>
              <a:latin typeface="Garet"/>
              <a:ea typeface="Garet"/>
              <a:cs typeface="Garet"/>
              <a:sym typeface="Garet"/>
            </a:endParaRPr>
          </a:p>
          <a:p>
            <a:r>
              <a:rPr lang="en-US" sz="3200" dirty="0"/>
              <a:t>Actuator Selection, Design &amp; Torque Calculation</a:t>
            </a:r>
          </a:p>
        </p:txBody>
      </p:sp>
      <p:sp>
        <p:nvSpPr>
          <p:cNvPr id="29" name="TextBox 29">
            <a:extLst>
              <a:ext uri="{FF2B5EF4-FFF2-40B4-BE49-F238E27FC236}">
                <a16:creationId xmlns:a16="http://schemas.microsoft.com/office/drawing/2014/main" id="{A2DF4A9A-2967-7106-696C-440C4E81A006}"/>
              </a:ext>
            </a:extLst>
          </p:cNvPr>
          <p:cNvSpPr txBox="1"/>
          <p:nvPr/>
        </p:nvSpPr>
        <p:spPr>
          <a:xfrm>
            <a:off x="10896600" y="813379"/>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Evidence (show, don’t tell)</a:t>
            </a:r>
          </a:p>
        </p:txBody>
      </p:sp>
      <p:sp>
        <p:nvSpPr>
          <p:cNvPr id="31" name="TextBox 31">
            <a:extLst>
              <a:ext uri="{FF2B5EF4-FFF2-40B4-BE49-F238E27FC236}">
                <a16:creationId xmlns:a16="http://schemas.microsoft.com/office/drawing/2014/main" id="{11CA96BB-2F31-AC4A-B0A1-7053D63A9965}"/>
              </a:ext>
            </a:extLst>
          </p:cNvPr>
          <p:cNvSpPr txBox="1"/>
          <p:nvPr/>
        </p:nvSpPr>
        <p:spPr>
          <a:xfrm>
            <a:off x="10466090" y="1669806"/>
            <a:ext cx="6747089" cy="239681"/>
          </a:xfrm>
          <a:prstGeom prst="rect">
            <a:avLst/>
          </a:prstGeom>
        </p:spPr>
        <p:txBody>
          <a:bodyPr lIns="0" tIns="0" rIns="0" bIns="0" rtlCol="0" anchor="t">
            <a:spAutoFit/>
          </a:bodyPr>
          <a:lstStyle/>
          <a:p>
            <a:pPr algn="l">
              <a:lnSpc>
                <a:spcPts val="1959"/>
              </a:lnSpc>
            </a:pPr>
            <a:endParaRPr lang="en-US" sz="1400" dirty="0">
              <a:solidFill>
                <a:srgbClr val="000000"/>
              </a:solidFill>
              <a:latin typeface="Garet Light"/>
              <a:ea typeface="Garet Light"/>
              <a:cs typeface="Garet Light"/>
              <a:sym typeface="Garet Light"/>
            </a:endParaRPr>
          </a:p>
        </p:txBody>
      </p:sp>
      <p:sp>
        <p:nvSpPr>
          <p:cNvPr id="33" name="TextBox 33">
            <a:extLst>
              <a:ext uri="{FF2B5EF4-FFF2-40B4-BE49-F238E27FC236}">
                <a16:creationId xmlns:a16="http://schemas.microsoft.com/office/drawing/2014/main" id="{0FC9B316-6A45-7724-E69A-29F550D5C1F8}"/>
              </a:ext>
            </a:extLst>
          </p:cNvPr>
          <p:cNvSpPr txBox="1"/>
          <p:nvPr/>
        </p:nvSpPr>
        <p:spPr>
          <a:xfrm>
            <a:off x="5551178" y="584718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Next Week Plan</a:t>
            </a:r>
          </a:p>
        </p:txBody>
      </p:sp>
      <p:sp>
        <p:nvSpPr>
          <p:cNvPr id="35" name="TextBox 35">
            <a:extLst>
              <a:ext uri="{FF2B5EF4-FFF2-40B4-BE49-F238E27FC236}">
                <a16:creationId xmlns:a16="http://schemas.microsoft.com/office/drawing/2014/main" id="{EE57A331-C085-0CBD-8E30-B5210DA5E679}"/>
              </a:ext>
            </a:extLst>
          </p:cNvPr>
          <p:cNvSpPr txBox="1"/>
          <p:nvPr/>
        </p:nvSpPr>
        <p:spPr>
          <a:xfrm>
            <a:off x="9592985" y="5815890"/>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In Progress</a:t>
            </a:r>
          </a:p>
        </p:txBody>
      </p:sp>
      <p:sp>
        <p:nvSpPr>
          <p:cNvPr id="37" name="TextBox 37">
            <a:extLst>
              <a:ext uri="{FF2B5EF4-FFF2-40B4-BE49-F238E27FC236}">
                <a16:creationId xmlns:a16="http://schemas.microsoft.com/office/drawing/2014/main" id="{B789AF91-E745-5908-5F43-3DFA41DC93C3}"/>
              </a:ext>
            </a:extLst>
          </p:cNvPr>
          <p:cNvSpPr txBox="1"/>
          <p:nvPr/>
        </p:nvSpPr>
        <p:spPr>
          <a:xfrm>
            <a:off x="13839634" y="5886560"/>
            <a:ext cx="3550383" cy="1093826"/>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Help Needed / Questions</a:t>
            </a:r>
          </a:p>
          <a:p>
            <a:pPr>
              <a:lnSpc>
                <a:spcPts val="2940"/>
              </a:lnSpc>
              <a:spcBef>
                <a:spcPct val="0"/>
              </a:spcBef>
            </a:pPr>
            <a:endParaRPr lang="en-US" sz="2400" b="1" dirty="0">
              <a:solidFill>
                <a:srgbClr val="000000"/>
              </a:solidFill>
              <a:latin typeface="Garet Bold"/>
              <a:ea typeface="Garet Bold"/>
              <a:cs typeface="Garet Bold"/>
              <a:sym typeface="Garet Bold"/>
            </a:endParaRPr>
          </a:p>
          <a:p>
            <a:pPr>
              <a:lnSpc>
                <a:spcPts val="2940"/>
              </a:lnSpc>
              <a:spcBef>
                <a:spcPct val="0"/>
              </a:spcBef>
            </a:pPr>
            <a:endParaRPr lang="en-US" sz="2400" b="1" dirty="0">
              <a:solidFill>
                <a:srgbClr val="000000"/>
              </a:solidFill>
              <a:latin typeface="Garet Bold"/>
              <a:ea typeface="Garet Bold"/>
              <a:cs typeface="Garet Bold"/>
              <a:sym typeface="Garet Bold"/>
            </a:endParaRPr>
          </a:p>
        </p:txBody>
      </p:sp>
      <p:sp>
        <p:nvSpPr>
          <p:cNvPr id="41" name="AutoShape 8">
            <a:extLst>
              <a:ext uri="{FF2B5EF4-FFF2-40B4-BE49-F238E27FC236}">
                <a16:creationId xmlns:a16="http://schemas.microsoft.com/office/drawing/2014/main" id="{089B9D79-70C1-D945-82FF-EFDA1BE1F1B2}"/>
              </a:ext>
            </a:extLst>
          </p:cNvPr>
          <p:cNvSpPr/>
          <p:nvPr/>
        </p:nvSpPr>
        <p:spPr>
          <a:xfrm>
            <a:off x="13864215" y="6277115"/>
            <a:ext cx="3550383" cy="3112467"/>
          </a:xfrm>
          <a:prstGeom prst="rect">
            <a:avLst/>
          </a:prstGeom>
          <a:solidFill>
            <a:srgbClr val="F3F8FF"/>
          </a:solidFill>
        </p:spPr>
        <p:txBody>
          <a:bodyPr/>
          <a:lstStyle/>
          <a:p>
            <a:pPr lvl="0" eaLnBrk="0" fontAlgn="base" hangingPunct="0">
              <a:spcBef>
                <a:spcPct val="0"/>
              </a:spcBef>
              <a:spcAft>
                <a:spcPct val="0"/>
              </a:spcAft>
              <a:buFontTx/>
              <a:buChar char="•"/>
            </a:pPr>
            <a:endParaRPr lang="en-US" altLang="en-US" sz="2000" dirty="0">
              <a:latin typeface="Arial" panose="020B0604020202020204" pitchFamily="34" charset="0"/>
            </a:endParaRPr>
          </a:p>
          <a:p>
            <a:pPr lvl="0" eaLnBrk="0" fontAlgn="base" hangingPunct="0">
              <a:spcBef>
                <a:spcPct val="0"/>
              </a:spcBef>
              <a:spcAft>
                <a:spcPct val="0"/>
              </a:spcAft>
              <a:buFontTx/>
              <a:buChar char="•"/>
            </a:pPr>
            <a:r>
              <a:rPr lang="en-US" altLang="en-US" sz="2000" dirty="0">
                <a:latin typeface="Arial" panose="020B0604020202020204" pitchFamily="34" charset="0"/>
              </a:rPr>
              <a:t>Confirmation of maximum payload weight for accurate calculations </a:t>
            </a:r>
          </a:p>
          <a:p>
            <a:pPr lvl="0" eaLnBrk="0" fontAlgn="base" hangingPunct="0">
              <a:spcBef>
                <a:spcPct val="0"/>
              </a:spcBef>
              <a:spcAft>
                <a:spcPct val="0"/>
              </a:spcAft>
              <a:buFontTx/>
              <a:buChar char="•"/>
            </a:pPr>
            <a:endParaRPr lang="en-US" altLang="en-US" sz="2000" dirty="0">
              <a:latin typeface="Arial" panose="020B0604020202020204" pitchFamily="34" charset="0"/>
            </a:endParaRPr>
          </a:p>
          <a:p>
            <a:pPr lvl="0" eaLnBrk="0" fontAlgn="base" hangingPunct="0">
              <a:spcBef>
                <a:spcPct val="0"/>
              </a:spcBef>
              <a:spcAft>
                <a:spcPct val="0"/>
              </a:spcAft>
              <a:buFontTx/>
              <a:buChar char="•"/>
            </a:pPr>
            <a:r>
              <a:rPr lang="en-US" altLang="en-US" sz="2000" dirty="0">
                <a:latin typeface="Arial" panose="020B0604020202020204" pitchFamily="34" charset="0"/>
              </a:rPr>
              <a:t>Verification of safety factor assumptions </a:t>
            </a:r>
          </a:p>
          <a:p>
            <a:pPr marL="285750" indent="-285750">
              <a:buFont typeface="Arial" panose="020B0604020202020204" pitchFamily="34" charset="0"/>
              <a:buChar char="•"/>
            </a:pPr>
            <a:endParaRPr lang="en-AE" sz="20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450BDD94-AD1F-17C0-D640-3811DE90CC6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3">
            <a:extLst>
              <a:ext uri="{FF2B5EF4-FFF2-40B4-BE49-F238E27FC236}">
                <a16:creationId xmlns:a16="http://schemas.microsoft.com/office/drawing/2014/main" id="{7EECCC61-3BDC-5C56-1113-9C661BF7BB4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8590E8B0-BC1E-1806-76AD-08BA4CE0B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6090" y="1461981"/>
            <a:ext cx="7056566" cy="3411938"/>
          </a:xfrm>
          <a:prstGeom prst="rect">
            <a:avLst/>
          </a:prstGeom>
        </p:spPr>
      </p:pic>
      <p:sp>
        <p:nvSpPr>
          <p:cNvPr id="12" name="Rectangle 1">
            <a:extLst>
              <a:ext uri="{FF2B5EF4-FFF2-40B4-BE49-F238E27FC236}">
                <a16:creationId xmlns:a16="http://schemas.microsoft.com/office/drawing/2014/main" id="{196D8B7E-5F4B-594D-0DEE-363F1412864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10035833-5F93-F6C1-D07F-A6E0ADF731AD}"/>
              </a:ext>
            </a:extLst>
          </p:cNvPr>
          <p:cNvSpPr>
            <a:spLocks noChangeArrowheads="1"/>
          </p:cNvSpPr>
          <p:nvPr/>
        </p:nvSpPr>
        <p:spPr bwMode="auto">
          <a:xfrm>
            <a:off x="0"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BF2EA2F0-A6E2-465A-CAD7-C16A652C3DC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1593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B064-5A46-E269-54D0-6C8D0927E14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2D37BF-4729-1D0F-78A8-8DAE3D61590C}"/>
              </a:ext>
            </a:extLst>
          </p:cNvPr>
          <p:cNvSpPr/>
          <p:nvPr/>
        </p:nvSpPr>
        <p:spPr>
          <a:xfrm>
            <a:off x="6243204" y="1431952"/>
            <a:ext cx="3550383" cy="3711548"/>
          </a:xfrm>
          <a:prstGeom prst="rect">
            <a:avLst/>
          </a:prstGeom>
          <a:solidFill>
            <a:srgbClr val="F3F8FF"/>
          </a:solidFill>
        </p:spPr>
        <p:txBody>
          <a:bodyPr/>
          <a:lstStyle/>
          <a:p>
            <a:endParaRPr lang="en-AE" sz="2000"/>
          </a:p>
        </p:txBody>
      </p:sp>
      <p:sp>
        <p:nvSpPr>
          <p:cNvPr id="4" name="TextBox 4">
            <a:extLst>
              <a:ext uri="{FF2B5EF4-FFF2-40B4-BE49-F238E27FC236}">
                <a16:creationId xmlns:a16="http://schemas.microsoft.com/office/drawing/2014/main" id="{E32E343A-09C4-70AE-57F8-2EB7485DD272}"/>
              </a:ext>
            </a:extLst>
          </p:cNvPr>
          <p:cNvSpPr txBox="1"/>
          <p:nvPr/>
        </p:nvSpPr>
        <p:spPr>
          <a:xfrm>
            <a:off x="6243204" y="813379"/>
            <a:ext cx="3550383" cy="732060"/>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Accomplished (since last report)</a:t>
            </a:r>
          </a:p>
        </p:txBody>
      </p:sp>
      <p:sp>
        <p:nvSpPr>
          <p:cNvPr id="6" name="AutoShape 6">
            <a:extLst>
              <a:ext uri="{FF2B5EF4-FFF2-40B4-BE49-F238E27FC236}">
                <a16:creationId xmlns:a16="http://schemas.microsoft.com/office/drawing/2014/main" id="{D4D1EBC2-F565-0C69-33E0-21BB00B2CDB4}"/>
              </a:ext>
            </a:extLst>
          </p:cNvPr>
          <p:cNvSpPr/>
          <p:nvPr/>
        </p:nvSpPr>
        <p:spPr>
          <a:xfrm>
            <a:off x="10125791" y="1402057"/>
            <a:ext cx="7427688" cy="3411937"/>
          </a:xfrm>
          <a:prstGeom prst="rect">
            <a:avLst/>
          </a:prstGeom>
          <a:solidFill>
            <a:srgbClr val="F3F8FF"/>
          </a:solidFill>
        </p:spPr>
        <p:txBody>
          <a:bodyPr/>
          <a:lstStyle/>
          <a:p>
            <a:r>
              <a:rPr lang="en-US" sz="2000" dirty="0"/>
              <a:t>                                                                                        initial conceptual design.                                                                           Design.</a:t>
            </a:r>
          </a:p>
          <a:p>
            <a:r>
              <a:rPr lang="en-AE" sz="2000" dirty="0"/>
              <a:t>                                                                                        </a:t>
            </a:r>
          </a:p>
          <a:p>
            <a:endParaRPr lang="en-AE" sz="2000" dirty="0"/>
          </a:p>
          <a:p>
            <a:endParaRPr lang="en-AE" sz="2000" dirty="0"/>
          </a:p>
          <a:p>
            <a:r>
              <a:rPr lang="en-AE" sz="2000" dirty="0"/>
              <a:t>                                                                                        </a:t>
            </a:r>
            <a:endParaRPr lang="en-US" sz="2000" dirty="0"/>
          </a:p>
          <a:p>
            <a:endParaRPr lang="en-AE" sz="2000" dirty="0"/>
          </a:p>
        </p:txBody>
      </p:sp>
      <p:sp>
        <p:nvSpPr>
          <p:cNvPr id="7" name="AutoShape 7">
            <a:extLst>
              <a:ext uri="{FF2B5EF4-FFF2-40B4-BE49-F238E27FC236}">
                <a16:creationId xmlns:a16="http://schemas.microsoft.com/office/drawing/2014/main" id="{1DD26CE2-BAE4-A023-5443-F4AA7D2E1EE7}"/>
              </a:ext>
            </a:extLst>
          </p:cNvPr>
          <p:cNvSpPr/>
          <p:nvPr/>
        </p:nvSpPr>
        <p:spPr>
          <a:xfrm>
            <a:off x="6243204" y="5784752"/>
            <a:ext cx="3550383" cy="3634329"/>
          </a:xfrm>
          <a:prstGeom prst="rect">
            <a:avLst/>
          </a:prstGeom>
          <a:solidFill>
            <a:srgbClr val="F3F8FF"/>
          </a:solidFill>
        </p:spPr>
        <p:txBody>
          <a:bodyPr/>
          <a:lstStyle/>
          <a:p>
            <a:pPr lvl="0" eaLnBrk="0" fontAlgn="base" hangingPunct="0">
              <a:spcBef>
                <a:spcPct val="0"/>
              </a:spcBef>
              <a:spcAft>
                <a:spcPct val="0"/>
              </a:spcAft>
              <a:buFontTx/>
              <a:buChar char="•"/>
            </a:pPr>
            <a:r>
              <a:rPr lang="en-US" dirty="0"/>
              <a:t>Fully realistic model of the robotic arm CAD. </a:t>
            </a:r>
          </a:p>
          <a:p>
            <a:pPr lvl="0" eaLnBrk="0" fontAlgn="base" hangingPunct="0">
              <a:spcBef>
                <a:spcPct val="0"/>
              </a:spcBef>
              <a:spcAft>
                <a:spcPct val="0"/>
              </a:spcAft>
              <a:buFontTx/>
              <a:buChar char="•"/>
            </a:pPr>
            <a:r>
              <a:rPr lang="en-US" dirty="0"/>
              <a:t>Complete the size and the connection lengths of the building.</a:t>
            </a:r>
          </a:p>
          <a:p>
            <a:pPr lvl="0" eaLnBrk="0" fontAlgn="base" hangingPunct="0">
              <a:spcBef>
                <a:spcPct val="0"/>
              </a:spcBef>
              <a:spcAft>
                <a:spcPct val="0"/>
              </a:spcAft>
              <a:buFontTx/>
              <a:buChar char="•"/>
            </a:pPr>
            <a:r>
              <a:rPr lang="en-US" dirty="0"/>
              <a:t> Choose appropriate motors or actuator of each joint. </a:t>
            </a:r>
          </a:p>
          <a:p>
            <a:pPr lvl="0" eaLnBrk="0" fontAlgn="base" hangingPunct="0">
              <a:spcBef>
                <a:spcPct val="0"/>
              </a:spcBef>
              <a:spcAft>
                <a:spcPct val="0"/>
              </a:spcAft>
              <a:buFontTx/>
              <a:buChar char="•"/>
            </a:pPr>
            <a:r>
              <a:rPr lang="en-US" dirty="0"/>
              <a:t>Determine the design of the mounting of the robotic arm on the mobile platform. </a:t>
            </a:r>
          </a:p>
          <a:p>
            <a:pPr lvl="0" eaLnBrk="0" fontAlgn="base" hangingPunct="0">
              <a:spcBef>
                <a:spcPct val="0"/>
              </a:spcBef>
              <a:spcAft>
                <a:spcPct val="0"/>
              </a:spcAft>
              <a:buFontTx/>
              <a:buChar char="•"/>
            </a:pPr>
            <a:r>
              <a:rPr lang="en-US" dirty="0"/>
              <a:t>Begin basic loading tests or mechanical simulation of the design.</a:t>
            </a:r>
            <a:endParaRPr lang="en-AE" sz="2000" dirty="0"/>
          </a:p>
        </p:txBody>
      </p:sp>
      <p:sp>
        <p:nvSpPr>
          <p:cNvPr id="8" name="AutoShape 8">
            <a:extLst>
              <a:ext uri="{FF2B5EF4-FFF2-40B4-BE49-F238E27FC236}">
                <a16:creationId xmlns:a16="http://schemas.microsoft.com/office/drawing/2014/main" id="{5D25F1BC-DCBB-0ABE-1805-487B36FC96CA}"/>
              </a:ext>
            </a:extLst>
          </p:cNvPr>
          <p:cNvSpPr/>
          <p:nvPr/>
        </p:nvSpPr>
        <p:spPr>
          <a:xfrm>
            <a:off x="10051288" y="5784751"/>
            <a:ext cx="3550383" cy="3634329"/>
          </a:xfrm>
          <a:prstGeom prst="rect">
            <a:avLst/>
          </a:prstGeom>
          <a:solidFill>
            <a:srgbClr val="F3F8FF"/>
          </a:solidFill>
        </p:spPr>
        <p:txBody>
          <a:bodyPr/>
          <a:lstStyle/>
          <a:p>
            <a:pPr marL="285750" indent="-285750">
              <a:buFont typeface="Arial" panose="020B0604020202020204" pitchFamily="34" charset="0"/>
              <a:buChar char="•"/>
            </a:pPr>
            <a:r>
              <a:rPr lang="en-US" dirty="0"/>
              <a:t>Optimizing the mechanical design of the arm links and joints.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Assessment of various joint mechanisms in order to move smoothly.</a:t>
            </a:r>
          </a:p>
          <a:p>
            <a:pPr marL="285750" indent="-285750">
              <a:buFont typeface="Arial" panose="020B0604020202020204" pitchFamily="34" charset="0"/>
              <a:buChar char="•"/>
            </a:pPr>
            <a:r>
              <a:rPr lang="en-US" dirty="0"/>
              <a:t> Completion of CAD assembly of complete robotic arm system.</a:t>
            </a:r>
            <a:endParaRPr lang="en-AE" sz="2000" dirty="0"/>
          </a:p>
        </p:txBody>
      </p:sp>
      <p:sp>
        <p:nvSpPr>
          <p:cNvPr id="25" name="TextBox 25">
            <a:extLst>
              <a:ext uri="{FF2B5EF4-FFF2-40B4-BE49-F238E27FC236}">
                <a16:creationId xmlns:a16="http://schemas.microsoft.com/office/drawing/2014/main" id="{E94A8D45-D6BD-07EC-3632-9113E66F0D0E}"/>
              </a:ext>
            </a:extLst>
          </p:cNvPr>
          <p:cNvSpPr txBox="1"/>
          <p:nvPr/>
        </p:nvSpPr>
        <p:spPr>
          <a:xfrm>
            <a:off x="750596" y="794329"/>
            <a:ext cx="4762914" cy="583558"/>
          </a:xfrm>
          <a:prstGeom prst="rect">
            <a:avLst/>
          </a:prstGeom>
        </p:spPr>
        <p:txBody>
          <a:bodyPr lIns="0" tIns="0" rIns="0" bIns="0" rtlCol="0" anchor="t">
            <a:spAutoFit/>
          </a:bodyPr>
          <a:lstStyle/>
          <a:p>
            <a:pPr algn="l">
              <a:lnSpc>
                <a:spcPts val="4759"/>
              </a:lnSpc>
              <a:spcBef>
                <a:spcPct val="0"/>
              </a:spcBef>
            </a:pPr>
            <a:r>
              <a:rPr lang="en-US" sz="3600" b="1" dirty="0">
                <a:solidFill>
                  <a:srgbClr val="000000"/>
                </a:solidFill>
                <a:latin typeface="Garet Bold"/>
                <a:ea typeface="Garet Bold"/>
                <a:cs typeface="Garet Bold"/>
                <a:sym typeface="Garet Bold"/>
              </a:rPr>
              <a:t>Abdelaziz’s progress</a:t>
            </a:r>
          </a:p>
        </p:txBody>
      </p:sp>
      <p:sp>
        <p:nvSpPr>
          <p:cNvPr id="26" name="TextBox 26">
            <a:extLst>
              <a:ext uri="{FF2B5EF4-FFF2-40B4-BE49-F238E27FC236}">
                <a16:creationId xmlns:a16="http://schemas.microsoft.com/office/drawing/2014/main" id="{B7FA1A6F-D113-C84E-3281-D2C7A34482E5}"/>
              </a:ext>
            </a:extLst>
          </p:cNvPr>
          <p:cNvSpPr txBox="1"/>
          <p:nvPr/>
        </p:nvSpPr>
        <p:spPr>
          <a:xfrm>
            <a:off x="750596" y="2414334"/>
            <a:ext cx="4632610" cy="2294859"/>
          </a:xfrm>
          <a:prstGeom prst="rect">
            <a:avLst/>
          </a:prstGeom>
        </p:spPr>
        <p:txBody>
          <a:bodyPr lIns="0" tIns="0" rIns="0" bIns="0" rtlCol="0" anchor="t">
            <a:spAutoFit/>
          </a:bodyPr>
          <a:lstStyle/>
          <a:p>
            <a:pPr algn="l">
              <a:lnSpc>
                <a:spcPts val="2239"/>
              </a:lnSpc>
            </a:pPr>
            <a:r>
              <a:rPr lang="en-US" sz="3200" b="1" dirty="0">
                <a:solidFill>
                  <a:srgbClr val="000000"/>
                </a:solidFill>
                <a:latin typeface="Garet Bold"/>
                <a:ea typeface="Garet Bold"/>
                <a:cs typeface="Garet Bold"/>
                <a:sym typeface="Garet Bold"/>
              </a:rPr>
              <a:t>Time frame:</a:t>
            </a:r>
          </a:p>
          <a:p>
            <a:pPr algn="l">
              <a:lnSpc>
                <a:spcPts val="2239"/>
              </a:lnSpc>
            </a:pPr>
            <a:endParaRPr lang="en-US" sz="3200" b="1" dirty="0">
              <a:solidFill>
                <a:srgbClr val="000000"/>
              </a:solidFill>
              <a:latin typeface="Garet Bold"/>
              <a:ea typeface="Garet Bold"/>
              <a:cs typeface="Garet Bold"/>
              <a:sym typeface="Garet Bold"/>
            </a:endParaRPr>
          </a:p>
          <a:p>
            <a:pPr algn="l">
              <a:lnSpc>
                <a:spcPts val="2239"/>
              </a:lnSpc>
            </a:pPr>
            <a:r>
              <a:rPr lang="en-US" sz="3200" dirty="0">
                <a:solidFill>
                  <a:srgbClr val="000000"/>
                </a:solidFill>
                <a:latin typeface="Garet"/>
                <a:ea typeface="Garet"/>
                <a:cs typeface="Garet"/>
                <a:sym typeface="Garet"/>
              </a:rPr>
              <a:t>Weeks 1-3</a:t>
            </a:r>
          </a:p>
          <a:p>
            <a:pPr algn="l">
              <a:lnSpc>
                <a:spcPts val="2239"/>
              </a:lnSpc>
            </a:pPr>
            <a:endParaRPr lang="en-US" sz="3200" dirty="0">
              <a:solidFill>
                <a:srgbClr val="000000"/>
              </a:solidFill>
              <a:latin typeface="Garet"/>
              <a:ea typeface="Garet"/>
              <a:cs typeface="Garet"/>
              <a:sym typeface="Garet"/>
            </a:endParaRPr>
          </a:p>
          <a:p>
            <a:pPr algn="l">
              <a:lnSpc>
                <a:spcPts val="2239"/>
              </a:lnSpc>
            </a:pPr>
            <a:endParaRPr lang="en-US" sz="3200" dirty="0">
              <a:solidFill>
                <a:srgbClr val="000000"/>
              </a:solidFill>
              <a:latin typeface="Garet"/>
              <a:ea typeface="Garet"/>
              <a:cs typeface="Garet"/>
              <a:sym typeface="Garet"/>
            </a:endParaRPr>
          </a:p>
          <a:p>
            <a:pPr>
              <a:lnSpc>
                <a:spcPts val="2239"/>
              </a:lnSpc>
            </a:pPr>
            <a:r>
              <a:rPr lang="en-US" sz="3200" b="1" dirty="0">
                <a:solidFill>
                  <a:srgbClr val="000000"/>
                </a:solidFill>
                <a:latin typeface="Garet"/>
                <a:ea typeface="Garet"/>
                <a:cs typeface="Garet"/>
                <a:sym typeface="Garet"/>
              </a:rPr>
              <a:t>Main role: </a:t>
            </a:r>
          </a:p>
          <a:p>
            <a:pPr>
              <a:lnSpc>
                <a:spcPts val="2239"/>
              </a:lnSpc>
            </a:pPr>
            <a:endParaRPr lang="en-US" sz="3200" b="1" dirty="0">
              <a:solidFill>
                <a:srgbClr val="000000"/>
              </a:solidFill>
              <a:latin typeface="Garet"/>
              <a:ea typeface="Garet"/>
              <a:cs typeface="Garet"/>
              <a:sym typeface="Garet"/>
            </a:endParaRPr>
          </a:p>
          <a:p>
            <a:pPr>
              <a:lnSpc>
                <a:spcPts val="2239"/>
              </a:lnSpc>
            </a:pPr>
            <a:r>
              <a:rPr lang="en-US" sz="3200" dirty="0">
                <a:solidFill>
                  <a:srgbClr val="000000"/>
                </a:solidFill>
                <a:latin typeface="Garet"/>
                <a:ea typeface="Garet"/>
                <a:cs typeface="Garet"/>
                <a:sym typeface="Garet"/>
              </a:rPr>
              <a:t>Mechanical structure</a:t>
            </a:r>
          </a:p>
        </p:txBody>
      </p:sp>
      <p:sp>
        <p:nvSpPr>
          <p:cNvPr id="29" name="TextBox 29">
            <a:extLst>
              <a:ext uri="{FF2B5EF4-FFF2-40B4-BE49-F238E27FC236}">
                <a16:creationId xmlns:a16="http://schemas.microsoft.com/office/drawing/2014/main" id="{CB0553D3-CFB5-F199-2571-B529FB42EED4}"/>
              </a:ext>
            </a:extLst>
          </p:cNvPr>
          <p:cNvSpPr txBox="1"/>
          <p:nvPr/>
        </p:nvSpPr>
        <p:spPr>
          <a:xfrm>
            <a:off x="10125791" y="813379"/>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Evidence (show, don’t tell)</a:t>
            </a:r>
          </a:p>
        </p:txBody>
      </p:sp>
      <p:sp>
        <p:nvSpPr>
          <p:cNvPr id="30" name="TextBox 30">
            <a:extLst>
              <a:ext uri="{FF2B5EF4-FFF2-40B4-BE49-F238E27FC236}">
                <a16:creationId xmlns:a16="http://schemas.microsoft.com/office/drawing/2014/main" id="{B37222BB-DE44-C52A-E593-C8213D003406}"/>
              </a:ext>
            </a:extLst>
          </p:cNvPr>
          <p:cNvSpPr txBox="1"/>
          <p:nvPr/>
        </p:nvSpPr>
        <p:spPr>
          <a:xfrm>
            <a:off x="6561381" y="1545439"/>
            <a:ext cx="3009211" cy="4390946"/>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dirty="0"/>
              <a:t>Researched various designs of robotic arm and industrial arm.</a:t>
            </a:r>
          </a:p>
          <a:p>
            <a:pPr marL="285750" indent="-285750">
              <a:buFont typeface="Arial" panose="020B0604020202020204" pitchFamily="34" charset="0"/>
              <a:buChar char="•"/>
            </a:pPr>
            <a:r>
              <a:rPr lang="en-US" dirty="0"/>
              <a:t>Choose number of Degrees of Freedom (DOF) and joint movement.</a:t>
            </a:r>
          </a:p>
          <a:p>
            <a:pPr marL="285750" indent="-285750">
              <a:buFont typeface="Arial" panose="020B0604020202020204" pitchFamily="34" charset="0"/>
              <a:buChar char="•"/>
            </a:pPr>
            <a:r>
              <a:rPr lang="en-US" dirty="0"/>
              <a:t>Choosing a 6-DOF robotic arm concept.</a:t>
            </a:r>
          </a:p>
          <a:p>
            <a:pPr marL="285750" indent="-285750">
              <a:buFont typeface="Arial" panose="020B0604020202020204" pitchFamily="34" charset="0"/>
              <a:buChar char="•"/>
            </a:pPr>
            <a:r>
              <a:rPr lang="en-US" dirty="0"/>
              <a:t>Created the initial mechanical design (base, links, joints).</a:t>
            </a:r>
          </a:p>
          <a:p>
            <a:pPr marL="285750" indent="-285750">
              <a:buFont typeface="Arial" panose="020B0604020202020204" pitchFamily="34" charset="0"/>
              <a:buChar char="•"/>
            </a:pPr>
            <a:r>
              <a:rPr lang="en-US" dirty="0"/>
              <a:t>Researched the materials and dimensions to be used..</a:t>
            </a:r>
          </a:p>
          <a:p>
            <a:endParaRPr lang="en-US" dirty="0"/>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a:p>
            <a:pPr marL="302259" lvl="1" indent="-151129" algn="l">
              <a:lnSpc>
                <a:spcPts val="1959"/>
              </a:lnSpc>
              <a:buFont typeface="Arial"/>
              <a:buChar char="•"/>
            </a:pPr>
            <a:endParaRPr lang="en-US" dirty="0">
              <a:solidFill>
                <a:srgbClr val="000000"/>
              </a:solidFill>
              <a:latin typeface="Garet Light"/>
              <a:ea typeface="Garet Light"/>
              <a:cs typeface="Garet Light"/>
              <a:sym typeface="Garet Light"/>
            </a:endParaRPr>
          </a:p>
        </p:txBody>
      </p:sp>
      <p:sp>
        <p:nvSpPr>
          <p:cNvPr id="31" name="TextBox 31">
            <a:extLst>
              <a:ext uri="{FF2B5EF4-FFF2-40B4-BE49-F238E27FC236}">
                <a16:creationId xmlns:a16="http://schemas.microsoft.com/office/drawing/2014/main" id="{F923A001-7B19-3DF8-021C-C9B67C1B2AC5}"/>
              </a:ext>
            </a:extLst>
          </p:cNvPr>
          <p:cNvSpPr txBox="1"/>
          <p:nvPr/>
        </p:nvSpPr>
        <p:spPr>
          <a:xfrm>
            <a:off x="10466090" y="1669806"/>
            <a:ext cx="6747089" cy="239681"/>
          </a:xfrm>
          <a:prstGeom prst="rect">
            <a:avLst/>
          </a:prstGeom>
        </p:spPr>
        <p:txBody>
          <a:bodyPr lIns="0" tIns="0" rIns="0" bIns="0" rtlCol="0" anchor="t">
            <a:spAutoFit/>
          </a:bodyPr>
          <a:lstStyle/>
          <a:p>
            <a:pPr algn="l">
              <a:lnSpc>
                <a:spcPts val="1959"/>
              </a:lnSpc>
            </a:pPr>
            <a:endParaRPr lang="en-US" sz="1400" dirty="0">
              <a:solidFill>
                <a:srgbClr val="000000"/>
              </a:solidFill>
              <a:latin typeface="Garet Light"/>
              <a:ea typeface="Garet Light"/>
              <a:cs typeface="Garet Light"/>
              <a:sym typeface="Garet Light"/>
            </a:endParaRPr>
          </a:p>
        </p:txBody>
      </p:sp>
      <p:sp>
        <p:nvSpPr>
          <p:cNvPr id="33" name="TextBox 33">
            <a:extLst>
              <a:ext uri="{FF2B5EF4-FFF2-40B4-BE49-F238E27FC236}">
                <a16:creationId xmlns:a16="http://schemas.microsoft.com/office/drawing/2014/main" id="{13B9194C-7F23-038C-20E4-3FA41A4DDCDE}"/>
              </a:ext>
            </a:extLst>
          </p:cNvPr>
          <p:cNvSpPr txBox="1"/>
          <p:nvPr/>
        </p:nvSpPr>
        <p:spPr>
          <a:xfrm>
            <a:off x="6243204"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Next Week Plan</a:t>
            </a:r>
          </a:p>
        </p:txBody>
      </p:sp>
      <p:sp>
        <p:nvSpPr>
          <p:cNvPr id="35" name="TextBox 35">
            <a:extLst>
              <a:ext uri="{FF2B5EF4-FFF2-40B4-BE49-F238E27FC236}">
                <a16:creationId xmlns:a16="http://schemas.microsoft.com/office/drawing/2014/main" id="{26D46E4C-B5E5-DFF8-BCEA-3EB8B189B895}"/>
              </a:ext>
            </a:extLst>
          </p:cNvPr>
          <p:cNvSpPr txBox="1"/>
          <p:nvPr/>
        </p:nvSpPr>
        <p:spPr>
          <a:xfrm>
            <a:off x="10125791" y="5166178"/>
            <a:ext cx="3550383" cy="360163"/>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In Progress</a:t>
            </a:r>
          </a:p>
        </p:txBody>
      </p:sp>
      <p:sp>
        <p:nvSpPr>
          <p:cNvPr id="37" name="TextBox 37">
            <a:extLst>
              <a:ext uri="{FF2B5EF4-FFF2-40B4-BE49-F238E27FC236}">
                <a16:creationId xmlns:a16="http://schemas.microsoft.com/office/drawing/2014/main" id="{0DA2FA2E-DFD2-8D2E-9110-98F1F3E99E4D}"/>
              </a:ext>
            </a:extLst>
          </p:cNvPr>
          <p:cNvSpPr txBox="1"/>
          <p:nvPr/>
        </p:nvSpPr>
        <p:spPr>
          <a:xfrm>
            <a:off x="14003096" y="5166178"/>
            <a:ext cx="3550383" cy="1093826"/>
          </a:xfrm>
          <a:prstGeom prst="rect">
            <a:avLst/>
          </a:prstGeom>
        </p:spPr>
        <p:txBody>
          <a:bodyPr lIns="0" tIns="0" rIns="0" bIns="0" rtlCol="0" anchor="t">
            <a:spAutoFit/>
          </a:bodyPr>
          <a:lstStyle/>
          <a:p>
            <a:pPr>
              <a:lnSpc>
                <a:spcPts val="2940"/>
              </a:lnSpc>
              <a:spcBef>
                <a:spcPct val="0"/>
              </a:spcBef>
            </a:pPr>
            <a:r>
              <a:rPr lang="en-US" sz="2400" b="1" dirty="0">
                <a:solidFill>
                  <a:srgbClr val="000000"/>
                </a:solidFill>
                <a:latin typeface="Garet Bold"/>
                <a:ea typeface="Garet Bold"/>
                <a:cs typeface="Garet Bold"/>
                <a:sym typeface="Garet Bold"/>
              </a:rPr>
              <a:t>Help Needed / Questions</a:t>
            </a:r>
          </a:p>
          <a:p>
            <a:pPr>
              <a:lnSpc>
                <a:spcPts val="2940"/>
              </a:lnSpc>
              <a:spcBef>
                <a:spcPct val="0"/>
              </a:spcBef>
            </a:pPr>
            <a:endParaRPr lang="en-US" sz="2400" b="1" dirty="0">
              <a:solidFill>
                <a:srgbClr val="000000"/>
              </a:solidFill>
              <a:latin typeface="Garet Bold"/>
              <a:ea typeface="Garet Bold"/>
              <a:cs typeface="Garet Bold"/>
              <a:sym typeface="Garet Bold"/>
            </a:endParaRPr>
          </a:p>
          <a:p>
            <a:pPr>
              <a:lnSpc>
                <a:spcPts val="2940"/>
              </a:lnSpc>
              <a:spcBef>
                <a:spcPct val="0"/>
              </a:spcBef>
            </a:pPr>
            <a:endParaRPr lang="en-US" sz="2400" b="1" dirty="0">
              <a:solidFill>
                <a:srgbClr val="000000"/>
              </a:solidFill>
              <a:latin typeface="Garet Bold"/>
              <a:ea typeface="Garet Bold"/>
              <a:cs typeface="Garet Bold"/>
              <a:sym typeface="Garet Bold"/>
            </a:endParaRPr>
          </a:p>
        </p:txBody>
      </p:sp>
      <p:sp>
        <p:nvSpPr>
          <p:cNvPr id="41" name="AutoShape 8">
            <a:extLst>
              <a:ext uri="{FF2B5EF4-FFF2-40B4-BE49-F238E27FC236}">
                <a16:creationId xmlns:a16="http://schemas.microsoft.com/office/drawing/2014/main" id="{F86B9389-283C-5F53-B497-AE6718321C84}"/>
              </a:ext>
            </a:extLst>
          </p:cNvPr>
          <p:cNvSpPr/>
          <p:nvPr/>
        </p:nvSpPr>
        <p:spPr>
          <a:xfrm>
            <a:off x="14016473" y="5784752"/>
            <a:ext cx="3550383" cy="3634329"/>
          </a:xfrm>
          <a:prstGeom prst="rect">
            <a:avLst/>
          </a:prstGeom>
          <a:solidFill>
            <a:srgbClr val="F3F8FF"/>
          </a:solidFill>
        </p:spPr>
        <p:txBody>
          <a:bodyPr/>
          <a:lstStyle/>
          <a:p>
            <a:pPr marL="285750" indent="-285750">
              <a:buFont typeface="Arial" panose="020B0604020202020204" pitchFamily="34" charset="0"/>
              <a:buChar char="•"/>
            </a:pPr>
            <a:br>
              <a:rPr lang="en-US" dirty="0"/>
            </a:br>
            <a:r>
              <a:rPr lang="en-US" dirty="0"/>
              <a:t>Recommendations on the choice of appropriate motors/servos to be used at each joint.</a:t>
            </a:r>
          </a:p>
          <a:p>
            <a:pPr marL="285750" indent="-285750">
              <a:buFont typeface="Arial" panose="020B0604020202020204" pitchFamily="34" charset="0"/>
              <a:buChar char="•"/>
            </a:pPr>
            <a:r>
              <a:rPr lang="en-US" dirty="0"/>
              <a:t> Suggestions on material of light yet stiff robotic arm links. </a:t>
            </a:r>
          </a:p>
          <a:p>
            <a:pPr marL="285750" indent="-285750">
              <a:buFont typeface="Arial" panose="020B0604020202020204" pitchFamily="34" charset="0"/>
              <a:buChar char="•"/>
            </a:pPr>
            <a:r>
              <a:rPr lang="en-US" dirty="0"/>
              <a:t>Assurance of the best number of DOF required in the project. </a:t>
            </a:r>
          </a:p>
          <a:p>
            <a:pPr marL="285750" indent="-285750">
              <a:buFont typeface="Arial" panose="020B0604020202020204" pitchFamily="34" charset="0"/>
              <a:buChar char="•"/>
            </a:pPr>
            <a:r>
              <a:rPr lang="en-US" dirty="0"/>
              <a:t>Response to the present CAD plan of the arm design.</a:t>
            </a:r>
            <a:endParaRPr lang="en-AE" sz="2000" dirty="0"/>
          </a:p>
        </p:txBody>
      </p:sp>
      <p:sp>
        <p:nvSpPr>
          <p:cNvPr id="9" name="Rectangle 3">
            <a:extLst>
              <a:ext uri="{FF2B5EF4-FFF2-40B4-BE49-F238E27FC236}">
                <a16:creationId xmlns:a16="http://schemas.microsoft.com/office/drawing/2014/main" id="{1FFB3779-1FB9-A54B-7C3C-3F46FCE3A06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5A887E3A-A4D6-D0E8-BF76-9AA53654EDB3}"/>
              </a:ext>
            </a:extLst>
          </p:cNvPr>
          <p:cNvPicPr>
            <a:picLocks noChangeAspect="1"/>
          </p:cNvPicPr>
          <p:nvPr/>
        </p:nvPicPr>
        <p:blipFill>
          <a:blip r:embed="rId2"/>
          <a:stretch>
            <a:fillRect/>
          </a:stretch>
        </p:blipFill>
        <p:spPr>
          <a:xfrm>
            <a:off x="10133886" y="1411400"/>
            <a:ext cx="4961849" cy="3288268"/>
          </a:xfrm>
          <a:prstGeom prst="rect">
            <a:avLst/>
          </a:prstGeom>
        </p:spPr>
      </p:pic>
    </p:spTree>
    <p:extLst>
      <p:ext uri="{BB962C8B-B14F-4D97-AF65-F5344CB8AC3E}">
        <p14:creationId xmlns:p14="http://schemas.microsoft.com/office/powerpoint/2010/main" val="699693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TotalTime>
  <Words>1271</Words>
  <Application>Microsoft Office PowerPoint</Application>
  <PresentationFormat>Custom</PresentationFormat>
  <Paragraphs>190</Paragraphs>
  <Slides>12</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vt:i4>
      </vt:variant>
    </vt:vector>
  </HeadingPairs>
  <TitlesOfParts>
    <vt:vector size="27" baseType="lpstr">
      <vt:lpstr>Arimo Bold</vt:lpstr>
      <vt:lpstr>Muli Ultra-Bold</vt:lpstr>
      <vt:lpstr>Arial</vt:lpstr>
      <vt:lpstr>Arimo</vt:lpstr>
      <vt:lpstr>Garet Bold</vt:lpstr>
      <vt:lpstr>Fira Sans Ultra-Bold</vt:lpstr>
      <vt:lpstr>Calibri</vt:lpstr>
      <vt:lpstr>ui-sans-serif</vt:lpstr>
      <vt:lpstr>Times New Roman</vt:lpstr>
      <vt:lpstr>DM Sans</vt:lpstr>
      <vt:lpstr>Garet</vt:lpstr>
      <vt:lpstr>Aptos</vt:lpstr>
      <vt:lpstr>Georgia Pro Light</vt:lpstr>
      <vt:lpstr>Garet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omar khaled</dc:creator>
  <cp:lastModifiedBy>Omar Khaled Yousef</cp:lastModifiedBy>
  <cp:revision>8</cp:revision>
  <dcterms:created xsi:type="dcterms:W3CDTF">2006-08-16T00:00:00Z</dcterms:created>
  <dcterms:modified xsi:type="dcterms:W3CDTF">2026-03-31T08:41:41Z</dcterms:modified>
  <dc:identifier>DAHDexxqE2E</dc:identifier>
</cp:coreProperties>
</file>